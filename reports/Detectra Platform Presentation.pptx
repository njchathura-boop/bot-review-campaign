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embeddedFontLst>
    <p:embeddedFont>
      <p:font typeface="Urbanist" panose="020B0604020202020204" charset="0"/>
      <p:regular r:id="rId16"/>
      <p:bold r:id="rId17"/>
      <p:italic r:id="rId18"/>
      <p:boldItalic r:id="rId19"/>
    </p:embeddedFont>
    <p:embeddedFont>
      <p:font typeface="Urbanist Medium" panose="020B0604020202020204" charset="0"/>
      <p:regular r:id="rId20"/>
      <p:bold r:id="rId21"/>
      <p:italic r:id="rId22"/>
      <p:boldItalic r:id="rId23"/>
    </p:embeddedFont>
    <p:embeddedFont>
      <p:font typeface="Urbanist SemiBold"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980" autoAdjust="0"/>
  </p:normalViewPr>
  <p:slideViewPr>
    <p:cSldViewPr snapToGrid="0">
      <p:cViewPr varScale="1">
        <p:scale>
          <a:sx n="58" d="100"/>
          <a:sy n="58" d="100"/>
        </p:scale>
        <p:origin x="161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7" name="Google Shape;157;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750"/>
              </a:spcBef>
              <a:spcAft>
                <a:spcPts val="0"/>
              </a:spcAft>
              <a:buClr>
                <a:schemeClr val="dk1"/>
              </a:buClr>
              <a:buSzPts val="1100"/>
              <a:buFont typeface="Arial"/>
              <a:buNone/>
            </a:pPr>
            <a:r>
              <a:rPr lang="en-US" sz="1500" dirty="0">
                <a:solidFill>
                  <a:schemeClr val="lt1"/>
                </a:solidFill>
                <a:latin typeface="Urbanist Medium"/>
                <a:ea typeface="Urbanist Medium"/>
                <a:cs typeface="Urbanist Medium"/>
                <a:sym typeface="Urbanist Medium"/>
              </a:rPr>
              <a:t>Why standard moderation fails against modern fraud.</a:t>
            </a:r>
          </a:p>
          <a:p>
            <a:pPr marL="0" marR="0" lvl="0" indent="0" algn="l" defTabSz="914400" rtl="0" eaLnBrk="1" fontAlgn="auto" latinLnBrk="0" hangingPunct="1">
              <a:lnSpc>
                <a:spcPct val="100000"/>
              </a:lnSpc>
              <a:spcBef>
                <a:spcPts val="750"/>
              </a:spcBef>
              <a:spcAft>
                <a:spcPts val="0"/>
              </a:spcAft>
              <a:buClr>
                <a:schemeClr val="dk1"/>
              </a:buClr>
              <a:buSzPts val="1100"/>
              <a:buFont typeface="Arial"/>
              <a:buNone/>
              <a:tabLst/>
              <a:defRPr/>
            </a:pPr>
            <a:r>
              <a:rPr lang="en-US" dirty="0"/>
              <a:t>“Imagine ten different accounts posting convincing five-star reviews for the same product within twenty minutes. Each review may look genuine when inspected alone. But together, their timing, wording and behavior reveal coordination. That is the trust problem </a:t>
            </a:r>
            <a:r>
              <a:rPr lang="en-US" dirty="0" err="1"/>
              <a:t>Detectra</a:t>
            </a:r>
            <a:r>
              <a:rPr lang="en-US" dirty="0"/>
              <a:t> addresses. Traditional review classifiers mainly ask, ‘Does this sentence look fake?’ </a:t>
            </a:r>
            <a:r>
              <a:rPr lang="en-US" dirty="0" err="1"/>
              <a:t>Detectra</a:t>
            </a:r>
            <a:r>
              <a:rPr lang="en-US" dirty="0"/>
              <a:t> asks a second and more important question: ‘Are multiple accounts acting together as a campaign?’ This matters because coordinated manipulation can distort product ratings, damage customer trust and overwhelm human moderators.”</a:t>
            </a:r>
          </a:p>
          <a:p>
            <a:pPr marL="0" lvl="0" indent="0" algn="l" rtl="0">
              <a:spcBef>
                <a:spcPts val="750"/>
              </a:spcBef>
              <a:spcAft>
                <a:spcPts val="0"/>
              </a:spcAft>
              <a:buClr>
                <a:schemeClr val="dk1"/>
              </a:buClr>
              <a:buSzPts val="1100"/>
              <a:buFont typeface="Arial"/>
              <a:buNone/>
            </a:pPr>
            <a:endParaRPr dirty="0"/>
          </a:p>
        </p:txBody>
      </p:sp>
      <p:sp>
        <p:nvSpPr>
          <p:cNvPr id="164" name="Google Shape;1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a:t>
            </a:r>
            <a:r>
              <a:rPr lang="en-IN" dirty="0" err="1"/>
              <a:t>Detectra</a:t>
            </a:r>
            <a:r>
              <a:rPr lang="en-IN" dirty="0"/>
              <a:t> the platform we built is focused on separating and addressing  the problem into two levels. This is our complete architecture.  First, an individual review-risk model uses </a:t>
            </a:r>
            <a:r>
              <a:rPr lang="en-IN" dirty="0" err="1"/>
              <a:t>DistilBERT</a:t>
            </a:r>
            <a:r>
              <a:rPr lang="en-IN" dirty="0"/>
              <a:t> to understand the meaning of one review. Second, a hybrid campaign model combines semantic similarity with temporal and </a:t>
            </a:r>
            <a:r>
              <a:rPr lang="en-IN" dirty="0" err="1"/>
              <a:t>behavioral</a:t>
            </a:r>
            <a:r>
              <a:rPr lang="en-IN" dirty="0"/>
              <a:t> signals to detect groups acting together. Around those models, we built an end-to-end </a:t>
            </a:r>
            <a:r>
              <a:rPr lang="en-IN" dirty="0" err="1"/>
              <a:t>MLOps</a:t>
            </a:r>
            <a:r>
              <a:rPr lang="en-IN" dirty="0"/>
              <a:t> lifecycle: DVC versions the data, Airflow orchestrates bounded jobs, Ray Tune searches model configurations, and </a:t>
            </a:r>
            <a:r>
              <a:rPr lang="en-IN" dirty="0" err="1"/>
              <a:t>MLflow</a:t>
            </a:r>
            <a:r>
              <a:rPr lang="en-IN" dirty="0"/>
              <a:t> records experiments. For online processing, Kafka transports events, and Spark creates event-time analysis windows. </a:t>
            </a:r>
            <a:r>
              <a:rPr lang="en-IN" dirty="0" err="1"/>
              <a:t>FastAPI</a:t>
            </a:r>
            <a:r>
              <a:rPr lang="en-IN" dirty="0"/>
              <a:t> then serves the result to a human moderator. Finally this entire platform results can be modelled and logged using Grafana and Kibana, along with </a:t>
            </a:r>
            <a:r>
              <a:rPr lang="en-IN" dirty="0" err="1"/>
              <a:t>promethue</a:t>
            </a:r>
            <a:r>
              <a:rPr lang="en-IN" dirty="0"/>
              <a:t> sand </a:t>
            </a:r>
            <a:r>
              <a:rPr lang="en-IN" dirty="0" err="1"/>
              <a:t>elasticsearch</a:t>
            </a:r>
            <a:r>
              <a:rPr lang="en-IN" dirty="0"/>
              <a:t> in the backed. The key design principle is separation of responsibility: every tool solves one clear part of the lifecycle.”</a:t>
            </a:r>
            <a:endParaRPr dirty="0"/>
          </a:p>
        </p:txBody>
      </p:sp>
      <p:sp>
        <p:nvSpPr>
          <p:cNvPr id="193" name="Google Shape;1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“Raw reviews are canonicalized into one consistent schema. We normalize Unicode text, language values and timestamps, validate ratings and remove unsafe future information. Most source review records are directly pulled from the Amazon review datasets. Coordinated campaign examples are deliberately synthesized because reliable campaign-level ground truth is limited. These scenarios alter controlled </a:t>
            </a:r>
            <a:r>
              <a:rPr lang="en-IN" dirty="0" err="1"/>
              <a:t>behavioral</a:t>
            </a:r>
            <a:r>
              <a:rPr lang="en-IN" dirty="0"/>
              <a:t> fields while preserving provenance, and time-based splits prevent future examples from leaking into earlier training data.”</a:t>
            </a:r>
            <a:endParaRPr dirty="0"/>
          </a:p>
        </p:txBody>
      </p:sp>
      <p:sp>
        <p:nvSpPr>
          <p:cNvPr id="211" name="Google Shape;21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“Git versions code, Git LFS stores the promoted large model files, and DVC versions the data pipeline. DVC hashes raw inputs, commands, parameters and outputs in </a:t>
            </a:r>
            <a:r>
              <a:rPr lang="en-IN" sz="1100" b="0" i="0" u="none" strike="noStrike" cap="none" spc="0" dirty="0" err="1">
                <a:solidFill>
                  <a:srgbClr val="000000"/>
                </a:solidFill>
                <a:latin typeface="Arial"/>
                <a:ea typeface="Arial"/>
                <a:cs typeface="Arial"/>
                <a:sym typeface="Arial"/>
              </a:rPr>
              <a:t>dvc.lock</a:t>
            </a:r>
            <a:r>
              <a:rPr lang="en-IN" dirty="0"/>
              <a:t>. If neither code nor input data changes, it can reuse the existing stage. If the data changes, </a:t>
            </a:r>
            <a:r>
              <a:rPr lang="en-IN" sz="1100" b="0" i="0" u="none" strike="noStrike" cap="none" spc="0" dirty="0" err="1">
                <a:solidFill>
                  <a:srgbClr val="000000"/>
                </a:solidFill>
                <a:latin typeface="Arial"/>
                <a:ea typeface="Arial"/>
                <a:cs typeface="Arial"/>
                <a:sym typeface="Arial"/>
              </a:rPr>
              <a:t>dvc</a:t>
            </a:r>
            <a:r>
              <a:rPr lang="en-IN" sz="1100" b="0" i="0" u="none" strike="noStrike" cap="none" spc="0" dirty="0">
                <a:solidFill>
                  <a:srgbClr val="000000"/>
                </a:solidFill>
                <a:latin typeface="Arial"/>
                <a:ea typeface="Arial"/>
                <a:cs typeface="Arial"/>
                <a:sym typeface="Arial"/>
              </a:rPr>
              <a:t> repro</a:t>
            </a:r>
            <a:r>
              <a:rPr lang="en-IN" dirty="0"/>
              <a:t> rebuilds the affected downstream stages. This gives us a reproducible connection from source data to processed bundles and training.”</a:t>
            </a:r>
            <a:endParaRPr dirty="0"/>
          </a:p>
        </p:txBody>
      </p:sp>
      <p:sp>
        <p:nvSpPr>
          <p:cNvPr id="227" name="Google Shape;22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“The campaign model is hybrid because text alone cannot prove coordination. Its semantic branch uses </a:t>
            </a:r>
            <a:r>
              <a:rPr lang="en-IN" dirty="0" err="1"/>
              <a:t>DistilBERT</a:t>
            </a:r>
            <a:r>
              <a:rPr lang="en-IN" dirty="0"/>
              <a:t> to represent what the reviews say. Its numeric branch processes fifteen </a:t>
            </a:r>
            <a:r>
              <a:rPr lang="en-IN" dirty="0" err="1"/>
              <a:t>behavioral</a:t>
            </a:r>
            <a:r>
              <a:rPr lang="en-IN" dirty="0"/>
              <a:t> and temporal features, such as review volume, timing gaps, rating entropy and verified-purchase </a:t>
            </a:r>
            <a:r>
              <a:rPr lang="en-IN" dirty="0" err="1"/>
              <a:t>behavior</a:t>
            </a:r>
            <a:r>
              <a:rPr lang="en-IN" dirty="0"/>
              <a:t>. The two representations are fused through neural layers to produce one campaign-risk probability. Reviews are grouped only when their product scope, time proximity and semantic relationship satisfy the graph rules.”</a:t>
            </a:r>
            <a:endParaRPr dirty="0"/>
          </a:p>
        </p:txBody>
      </p:sp>
      <p:sp>
        <p:nvSpPr>
          <p:cNvPr id="243" name="Google Shape;24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“Airflow is the conductor, not the heavy-compute engine. Its DAG first submits temporal data preparation to Ray and waits for completion. It then submits review-model training, waits again, and finally submits campaign-model training. PostgreSQL stores Airflow’s task and DAG state, while Ray performs the expensive work. The sensors use reschedule mode, so they release Airflow workers while waiting instead of wasting a worker slot.”</a:t>
            </a:r>
            <a:endParaRPr dirty="0"/>
          </a:p>
        </p:txBody>
      </p:sp>
      <p:sp>
        <p:nvSpPr>
          <p:cNvPr id="259" name="Google Shape;25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“We developed three model tracks. TF-IDF with logistic regression provides a fast, interpretable baseline. </a:t>
            </a:r>
            <a:r>
              <a:rPr lang="en-IN" dirty="0" err="1"/>
              <a:t>DistilBERT</a:t>
            </a:r>
            <a:r>
              <a:rPr lang="en-IN" dirty="0"/>
              <a:t> provides contextual individual review-risk predictions. The hybrid campaign model combines text with </a:t>
            </a:r>
            <a:r>
              <a:rPr lang="en-IN" dirty="0" err="1"/>
              <a:t>behavioral</a:t>
            </a:r>
            <a:r>
              <a:rPr lang="en-IN" dirty="0"/>
              <a:t> evidence for group-level detection. Ray Tune explores hyperparameters, and ASHA can stop weak configurations early when multiple trials and epochs are used. </a:t>
            </a:r>
            <a:r>
              <a:rPr lang="en-IN" dirty="0" err="1"/>
              <a:t>MLflow</a:t>
            </a:r>
            <a:r>
              <a:rPr lang="en-IN" dirty="0"/>
              <a:t> records each experiment and the selected model, while inference uses the promoted local model bundles.”</a:t>
            </a:r>
            <a:endParaRPr dirty="0"/>
          </a:p>
        </p:txBody>
      </p:sp>
      <p:sp>
        <p:nvSpPr>
          <p:cNvPr id="275" name="Google Shape;27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“On the held-out real review test set, the promoted </a:t>
            </a:r>
            <a:r>
              <a:rPr lang="en-IN" dirty="0" err="1"/>
              <a:t>DistilBERT</a:t>
            </a:r>
            <a:r>
              <a:rPr lang="en-IN" dirty="0"/>
              <a:t> model outperformed the baseline across all five reported metrics. Precision increased from 83.56% to 91.41%, F1 from 79.13% to 83.83%, ROC-AUC from 87.78% to 92.64%, and PR-AUC from 90.16% to 94.05%. Recall improved more modestly, from 75.14% to 77.42%. PR-AUC is particularly important because this is a minority-class screening problem. These results show better ranking and fewer false accusations, while still requiring human review for consequential decisions.”</a:t>
            </a:r>
            <a:endParaRPr dirty="0"/>
          </a:p>
        </p:txBody>
      </p:sp>
      <p:sp>
        <p:nvSpPr>
          <p:cNvPr id="291" name="Google Shape;29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“A model is not production-ready merely because its notebook accuracy is good. We must know whether the API is healthy, whether requests are slow, whether streaming is failing and exactly what happened during an incident. Prometheus collects numeric API and Ray metrics, while Grafana turns them into operational dashboards. </a:t>
            </a:r>
            <a:r>
              <a:rPr lang="en-IN" dirty="0" err="1"/>
              <a:t>Filebeat</a:t>
            </a:r>
            <a:r>
              <a:rPr lang="en-IN" dirty="0"/>
              <a:t> collects container logs, Elasticsearch indexes them, and Kibana lets us investigate them with KQL. And finally we have deployed the code using GitHub Actions that tests the code, validates model bundles, builds Docker images and scans them with </a:t>
            </a:r>
            <a:r>
              <a:rPr lang="en-IN" dirty="0" err="1"/>
              <a:t>Trivy</a:t>
            </a:r>
            <a:r>
              <a:rPr lang="en-IN" dirty="0"/>
              <a:t> before publication. </a:t>
            </a:r>
            <a:r>
              <a:rPr lang="en-IN" dirty="0" err="1"/>
              <a:t>Detectra</a:t>
            </a:r>
            <a:r>
              <a:rPr lang="en-IN" dirty="0"/>
              <a:t> is therefore not only a model—it is a traceable, testable and observable decision system.”</a:t>
            </a:r>
            <a:endParaRPr dirty="0"/>
          </a:p>
        </p:txBody>
      </p:sp>
      <p:sp>
        <p:nvSpPr>
          <p:cNvPr id="315" name="Google Shape;31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fac92554c9_3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g3fac92554c9_3_9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a:t>
            </a:r>
            <a:r>
              <a:rPr lang="en-IN" dirty="0" err="1"/>
              <a:t>Detectra</a:t>
            </a:r>
            <a:r>
              <a:rPr lang="en-IN" dirty="0"/>
              <a:t> turns isolated review classification into a complete campaign-investigation workflow: reproducible data, two-level intelligence, streaming analysis, human control and operational evidence. Thank you—we welcome your questions.”</a:t>
            </a:r>
            <a:endParaRPr dirty="0"/>
          </a:p>
        </p:txBody>
      </p:sp>
      <p:sp>
        <p:nvSpPr>
          <p:cNvPr id="353" name="Google Shape;35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93" name="Google Shape;9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9" name="Google Shape;99;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05" name="Google Shape;10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1" name="Google Shape;111;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12" name="Google Shape;11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18" name="Google Shape;118;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19" name="Google Shape;119;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20" name="Google Shape;120;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21" name="Google Shape;12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2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2" name="Google Shape;132;p2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3" name="Google Shape;13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22"/>
          <p:cNvSpPr>
            <a:spLocks noGrp="1"/>
          </p:cNvSpPr>
          <p:nvPr>
            <p:ph type="pic" idx="2"/>
          </p:nvPr>
        </p:nvSpPr>
        <p:spPr>
          <a:xfrm>
            <a:off x="1792288" y="612775"/>
            <a:ext cx="5486400" cy="4114800"/>
          </a:xfrm>
          <a:prstGeom prst="rect">
            <a:avLst/>
          </a:prstGeom>
          <a:noFill/>
          <a:ln>
            <a:noFill/>
          </a:ln>
        </p:spPr>
      </p:sp>
      <p:sp>
        <p:nvSpPr>
          <p:cNvPr id="139" name="Google Shape;139;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40" name="Google Shape;140;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6" name="Google Shape;14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2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2" name="Google Shape;15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0" name="Google Shape;160;p25"/>
          <p:cNvSpPr txBox="1"/>
          <p:nvPr/>
        </p:nvSpPr>
        <p:spPr>
          <a:xfrm>
            <a:off x="1095375" y="1876573"/>
            <a:ext cx="10001400" cy="26598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0" i="0" u="none" strike="noStrike" cap="none">
                <a:solidFill>
                  <a:srgbClr val="F5F5F5"/>
                </a:solidFill>
                <a:latin typeface="Urbanist SemiBold"/>
                <a:ea typeface="Urbanist SemiBold"/>
                <a:cs typeface="Urbanist SemiBold"/>
                <a:sym typeface="Urbanist SemiBold"/>
              </a:rPr>
              <a:t>Detectra Platform</a:t>
            </a:r>
            <a:br>
              <a:rPr lang="en-US" sz="1800" b="0" i="0" u="none" strike="noStrike" cap="none">
                <a:solidFill>
                  <a:schemeClr val="dk1"/>
                </a:solidFill>
                <a:latin typeface="Calibri"/>
                <a:ea typeface="Calibri"/>
                <a:cs typeface="Calibri"/>
                <a:sym typeface="Calibri"/>
              </a:rPr>
            </a:br>
            <a:r>
              <a:rPr lang="en-US" sz="5400" b="0" i="0" u="none" strike="noStrike" cap="none">
                <a:solidFill>
                  <a:srgbClr val="DEFF9A"/>
                </a:solidFill>
                <a:latin typeface="Urbanist SemiBold"/>
                <a:ea typeface="Urbanist SemiBold"/>
                <a:cs typeface="Urbanist SemiBold"/>
                <a:sym typeface="Urbanist SemiBold"/>
              </a:rPr>
              <a:t>Bot Review &amp; Campaign</a:t>
            </a:r>
            <a:r>
              <a:rPr lang="en-US" sz="5400" b="0" i="0" u="none" strike="noStrike" cap="none">
                <a:solidFill>
                  <a:srgbClr val="F5F5F5"/>
                </a:solidFill>
                <a:latin typeface="Urbanist SemiBold"/>
                <a:ea typeface="Urbanist SemiBold"/>
                <a:cs typeface="Urbanist SemiBold"/>
                <a:sym typeface="Urbanist SemiBold"/>
              </a:rPr>
              <a:t> Intelligence</a:t>
            </a:r>
            <a:endParaRPr/>
          </a:p>
        </p:txBody>
      </p:sp>
      <p:sp>
        <p:nvSpPr>
          <p:cNvPr id="161" name="Google Shape;161;p25"/>
          <p:cNvSpPr txBox="1"/>
          <p:nvPr/>
        </p:nvSpPr>
        <p:spPr>
          <a:xfrm>
            <a:off x="3033799" y="4702031"/>
            <a:ext cx="6124500" cy="27720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CA3AF"/>
                </a:solidFill>
                <a:latin typeface="Urbanist"/>
                <a:ea typeface="Urbanist"/>
                <a:cs typeface="Urbanist"/>
                <a:sym typeface="Urbanist"/>
              </a:rPr>
              <a:t>End-to-End MLOps Workflow for E-commerce Trust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26"/>
          <p:cNvSpPr txBox="1"/>
          <p:nvPr/>
        </p:nvSpPr>
        <p:spPr>
          <a:xfrm>
            <a:off x="723900" y="571500"/>
            <a:ext cx="11441400" cy="4617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3000" b="0" i="0">
                <a:solidFill>
                  <a:srgbClr val="F5F5F5"/>
                </a:solidFill>
                <a:latin typeface="Urbanist SemiBold"/>
                <a:ea typeface="Urbanist SemiBold"/>
                <a:cs typeface="Urbanist SemiBold"/>
                <a:sym typeface="Urbanist SemiBold"/>
              </a:rPr>
              <a:t>The Threat: Bot &amp; Campaign Attacks</a:t>
            </a:r>
            <a:endParaRPr sz="3000" b="0" i="0">
              <a:solidFill>
                <a:srgbClr val="F5F5F5"/>
              </a:solidFill>
              <a:latin typeface="Urbanist SemiBold"/>
              <a:ea typeface="Urbanist SemiBold"/>
              <a:cs typeface="Urbanist SemiBold"/>
              <a:sym typeface="Urbanist SemiBold"/>
            </a:endParaRPr>
          </a:p>
        </p:txBody>
      </p:sp>
      <p:sp>
        <p:nvSpPr>
          <p:cNvPr id="168" name="Google Shape;168;p26"/>
          <p:cNvSpPr/>
          <p:nvPr/>
        </p:nvSpPr>
        <p:spPr>
          <a:xfrm>
            <a:off x="571500" y="571500"/>
            <a:ext cx="573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26"/>
          <p:cNvSpPr/>
          <p:nvPr/>
        </p:nvSpPr>
        <p:spPr>
          <a:xfrm>
            <a:off x="571500" y="1714500"/>
            <a:ext cx="4762500" cy="3905400"/>
          </a:xfrm>
          <a:prstGeom prst="roundRect">
            <a:avLst>
              <a:gd name="adj" fmla="val 3902"/>
            </a:avLst>
          </a:prstGeom>
          <a:solidFill>
            <a:srgbClr val="171717">
              <a:alpha val="80000"/>
            </a:srgbClr>
          </a:solidFill>
          <a:ln w="14300" cap="flat" cmpd="sng">
            <a:solidFill>
              <a:srgbClr val="26262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70" name="Google Shape;170;p26"/>
          <p:cNvGrpSpPr/>
          <p:nvPr/>
        </p:nvGrpSpPr>
        <p:grpSpPr>
          <a:xfrm>
            <a:off x="857250" y="2000250"/>
            <a:ext cx="4191000" cy="3333900"/>
            <a:chOff x="0" y="0"/>
            <a:chExt cx="4191000" cy="3333900"/>
          </a:xfrm>
        </p:grpSpPr>
        <p:sp>
          <p:nvSpPr>
            <p:cNvPr id="171" name="Google Shape;171;p26"/>
            <p:cNvSpPr/>
            <p:nvPr/>
          </p:nvSpPr>
          <p:spPr>
            <a:xfrm>
              <a:off x="0" y="0"/>
              <a:ext cx="4191000" cy="3333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2" name="Google Shape;172;p26"/>
            <p:cNvSpPr txBox="1"/>
            <p:nvPr/>
          </p:nvSpPr>
          <p:spPr>
            <a:xfrm>
              <a:off x="0" y="0"/>
              <a:ext cx="4191000" cy="3333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2600" b="0" dirty="0">
                  <a:solidFill>
                    <a:srgbClr val="DEFF9A"/>
                  </a:solidFill>
                  <a:latin typeface="Urbanist SemiBold"/>
                  <a:ea typeface="Urbanist SemiBold"/>
                  <a:cs typeface="Urbanist SemiBold"/>
                  <a:sym typeface="Urbanist SemiBold"/>
                </a:rPr>
                <a:t>The Coordinated Trust Crisis</a:t>
              </a:r>
              <a:endParaRPr sz="2600" b="0" dirty="0">
                <a:solidFill>
                  <a:srgbClr val="DEFF9A"/>
                </a:solidFill>
                <a:latin typeface="Urbanist SemiBold"/>
                <a:ea typeface="Urbanist SemiBold"/>
                <a:cs typeface="Urbanist SemiBold"/>
                <a:sym typeface="Urbanist SemiBold"/>
              </a:endParaRPr>
            </a:p>
            <a:p>
              <a:pPr marL="0" lvl="0" indent="0" algn="l" rtl="0">
                <a:spcBef>
                  <a:spcPts val="750"/>
                </a:spcBef>
                <a:spcAft>
                  <a:spcPts val="0"/>
                </a:spcAft>
                <a:buNone/>
              </a:pPr>
              <a:endParaRPr sz="1500" b="0" dirty="0">
                <a:solidFill>
                  <a:srgbClr val="FFFFFF"/>
                </a:solidFill>
                <a:latin typeface="Urbanist Medium"/>
                <a:ea typeface="Urbanist Medium"/>
                <a:cs typeface="Urbanist Medium"/>
                <a:sym typeface="Urbanist Medium"/>
              </a:endParaRPr>
            </a:p>
            <a:p>
              <a:pPr marL="0" lvl="0" indent="0" algn="l" rtl="0">
                <a:spcBef>
                  <a:spcPts val="1125"/>
                </a:spcBef>
                <a:spcAft>
                  <a:spcPts val="0"/>
                </a:spcAft>
                <a:buNone/>
              </a:pPr>
              <a:r>
                <a:rPr lang="en-US" sz="1400" b="1" i="1" dirty="0">
                  <a:solidFill>
                    <a:srgbClr val="DEFF9A"/>
                  </a:solidFill>
                  <a:latin typeface="Urbanist"/>
                  <a:ea typeface="Urbanist"/>
                  <a:cs typeface="Urbanist"/>
                  <a:sym typeface="Urbanist"/>
                </a:rPr>
                <a:t>"Highly Synchronized. Completely Devastating."</a:t>
              </a:r>
              <a:endParaRPr sz="1400" b="1" i="1" dirty="0">
                <a:solidFill>
                  <a:srgbClr val="DEFF9A"/>
                </a:solidFill>
                <a:latin typeface="Urbanist"/>
                <a:ea typeface="Urbanist"/>
                <a:cs typeface="Urbanist"/>
                <a:sym typeface="Urbanist"/>
              </a:endParaRPr>
            </a:p>
            <a:p>
              <a:pPr marL="0" lvl="0" indent="0" algn="just" rtl="0">
                <a:spcBef>
                  <a:spcPts val="900"/>
                </a:spcBef>
                <a:spcAft>
                  <a:spcPts val="0"/>
                </a:spcAft>
                <a:buNone/>
              </a:pPr>
              <a:r>
                <a:rPr lang="en-US" sz="1250" b="0" dirty="0">
                  <a:solidFill>
                    <a:srgbClr val="A3A3A3"/>
                  </a:solidFill>
                  <a:latin typeface="Urbanist"/>
                  <a:ea typeface="Urbanist"/>
                  <a:cs typeface="Urbanist"/>
                  <a:sym typeface="Urbanist"/>
                </a:rPr>
                <a:t>Bad actors no longer rely on single, isolated fake accounts. Instead, they deploy highly synchronized botnets that mimic genuine user patterns, rendering classic filters completely obsolete.</a:t>
              </a:r>
              <a:endParaRPr sz="1250" b="0" dirty="0">
                <a:solidFill>
                  <a:srgbClr val="A3A3A3"/>
                </a:solidFill>
                <a:latin typeface="Urbanist"/>
                <a:ea typeface="Urbanist"/>
                <a:cs typeface="Urbanist"/>
                <a:sym typeface="Urbanist"/>
              </a:endParaRPr>
            </a:p>
          </p:txBody>
        </p:sp>
      </p:grpSp>
      <p:grpSp>
        <p:nvGrpSpPr>
          <p:cNvPr id="173" name="Google Shape;173;p26"/>
          <p:cNvGrpSpPr/>
          <p:nvPr/>
        </p:nvGrpSpPr>
        <p:grpSpPr>
          <a:xfrm>
            <a:off x="5715000" y="1857375"/>
            <a:ext cx="571500" cy="952500"/>
            <a:chOff x="0" y="0"/>
            <a:chExt cx="571500" cy="952500"/>
          </a:xfrm>
        </p:grpSpPr>
        <p:sp>
          <p:nvSpPr>
            <p:cNvPr id="174" name="Google Shape;174;p26"/>
            <p:cNvSpPr/>
            <p:nvPr/>
          </p:nvSpPr>
          <p:spPr>
            <a:xfrm>
              <a:off x="0" y="0"/>
              <a:ext cx="571500" cy="952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26"/>
            <p:cNvSpPr txBox="1"/>
            <p:nvPr/>
          </p:nvSpPr>
          <p:spPr>
            <a:xfrm>
              <a:off x="0" y="0"/>
              <a:ext cx="571500" cy="952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2800" b="1">
                  <a:solidFill>
                    <a:srgbClr val="DEFF9A"/>
                  </a:solidFill>
                  <a:latin typeface="Urbanist"/>
                  <a:ea typeface="Urbanist"/>
                  <a:cs typeface="Urbanist"/>
                  <a:sym typeface="Urbanist"/>
                </a:rPr>
                <a:t>01</a:t>
              </a:r>
              <a:endParaRPr sz="2800" b="1">
                <a:solidFill>
                  <a:srgbClr val="DEFF9A"/>
                </a:solidFill>
                <a:latin typeface="Urbanist"/>
                <a:ea typeface="Urbanist"/>
                <a:cs typeface="Urbanist"/>
                <a:sym typeface="Urbanist"/>
              </a:endParaRPr>
            </a:p>
          </p:txBody>
        </p:sp>
      </p:grpSp>
      <p:grpSp>
        <p:nvGrpSpPr>
          <p:cNvPr id="176" name="Google Shape;176;p26"/>
          <p:cNvGrpSpPr/>
          <p:nvPr/>
        </p:nvGrpSpPr>
        <p:grpSpPr>
          <a:xfrm>
            <a:off x="6381750" y="1857375"/>
            <a:ext cx="5238900" cy="1047900"/>
            <a:chOff x="0" y="0"/>
            <a:chExt cx="5238900" cy="1047900"/>
          </a:xfrm>
        </p:grpSpPr>
        <p:sp>
          <p:nvSpPr>
            <p:cNvPr id="177" name="Google Shape;177;p26"/>
            <p:cNvSpPr/>
            <p:nvPr/>
          </p:nvSpPr>
          <p:spPr>
            <a:xfrm>
              <a:off x="0" y="0"/>
              <a:ext cx="5238900" cy="1047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8" name="Google Shape;178;p26"/>
            <p:cNvSpPr txBox="1"/>
            <p:nvPr/>
          </p:nvSpPr>
          <p:spPr>
            <a:xfrm>
              <a:off x="0" y="0"/>
              <a:ext cx="52389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50" b="0" dirty="0">
                  <a:solidFill>
                    <a:srgbClr val="FFFFFF"/>
                  </a:solidFill>
                  <a:latin typeface="Urbanist SemiBold"/>
                  <a:ea typeface="Urbanist SemiBold"/>
                  <a:cs typeface="Urbanist SemiBold"/>
                  <a:sym typeface="Urbanist SemiBold"/>
                </a:rPr>
                <a:t>Erosion of Platform Trust</a:t>
              </a:r>
              <a:endParaRPr sz="1650" b="0" dirty="0">
                <a:solidFill>
                  <a:srgbClr val="FFFFFF"/>
                </a:solidFill>
                <a:latin typeface="Urbanist SemiBold"/>
                <a:ea typeface="Urbanist SemiBold"/>
                <a:cs typeface="Urbanist SemiBold"/>
                <a:sym typeface="Urbanist SemiBold"/>
              </a:endParaRPr>
            </a:p>
            <a:p>
              <a:pPr marL="0" lvl="0" indent="0" algn="l" rtl="0">
                <a:spcBef>
                  <a:spcPts val="450"/>
                </a:spcBef>
                <a:spcAft>
                  <a:spcPts val="0"/>
                </a:spcAft>
                <a:buNone/>
              </a:pPr>
              <a:r>
                <a:rPr lang="en-US" sz="1200" b="0" dirty="0">
                  <a:solidFill>
                    <a:srgbClr val="A3A3A3"/>
                  </a:solidFill>
                  <a:latin typeface="Urbanist"/>
                  <a:ea typeface="Urbanist"/>
                  <a:cs typeface="Urbanist"/>
                  <a:sym typeface="Urbanist"/>
                </a:rPr>
                <a:t>Automated bot networks flood listings with highly realistic fraudulent ratings, immediately destroying the integrity and customer reliability of e-commerce ratings.</a:t>
              </a:r>
              <a:endParaRPr sz="1200" b="0" dirty="0">
                <a:solidFill>
                  <a:srgbClr val="A3A3A3"/>
                </a:solidFill>
                <a:latin typeface="Urbanist"/>
                <a:ea typeface="Urbanist"/>
                <a:cs typeface="Urbanist"/>
                <a:sym typeface="Urbanist"/>
              </a:endParaRPr>
            </a:p>
          </p:txBody>
        </p:sp>
      </p:grpSp>
      <p:grpSp>
        <p:nvGrpSpPr>
          <p:cNvPr id="179" name="Google Shape;179;p26"/>
          <p:cNvGrpSpPr/>
          <p:nvPr/>
        </p:nvGrpSpPr>
        <p:grpSpPr>
          <a:xfrm>
            <a:off x="5715000" y="3095625"/>
            <a:ext cx="571500" cy="952500"/>
            <a:chOff x="0" y="0"/>
            <a:chExt cx="571500" cy="952500"/>
          </a:xfrm>
        </p:grpSpPr>
        <p:sp>
          <p:nvSpPr>
            <p:cNvPr id="180" name="Google Shape;180;p26"/>
            <p:cNvSpPr/>
            <p:nvPr/>
          </p:nvSpPr>
          <p:spPr>
            <a:xfrm>
              <a:off x="0" y="0"/>
              <a:ext cx="571500" cy="952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1" name="Google Shape;181;p26"/>
            <p:cNvSpPr txBox="1"/>
            <p:nvPr/>
          </p:nvSpPr>
          <p:spPr>
            <a:xfrm>
              <a:off x="0" y="0"/>
              <a:ext cx="571500" cy="952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2800" b="1">
                  <a:solidFill>
                    <a:srgbClr val="DEFF9A"/>
                  </a:solidFill>
                  <a:latin typeface="Urbanist"/>
                  <a:ea typeface="Urbanist"/>
                  <a:cs typeface="Urbanist"/>
                  <a:sym typeface="Urbanist"/>
                </a:rPr>
                <a:t>02</a:t>
              </a:r>
              <a:endParaRPr sz="2800" b="1">
                <a:solidFill>
                  <a:srgbClr val="DEFF9A"/>
                </a:solidFill>
                <a:latin typeface="Urbanist"/>
                <a:ea typeface="Urbanist"/>
                <a:cs typeface="Urbanist"/>
                <a:sym typeface="Urbanist"/>
              </a:endParaRPr>
            </a:p>
          </p:txBody>
        </p:sp>
      </p:grpSp>
      <p:grpSp>
        <p:nvGrpSpPr>
          <p:cNvPr id="182" name="Google Shape;182;p26"/>
          <p:cNvGrpSpPr/>
          <p:nvPr/>
        </p:nvGrpSpPr>
        <p:grpSpPr>
          <a:xfrm>
            <a:off x="6381750" y="3095625"/>
            <a:ext cx="5238900" cy="1047900"/>
            <a:chOff x="0" y="0"/>
            <a:chExt cx="5238900" cy="1047900"/>
          </a:xfrm>
        </p:grpSpPr>
        <p:sp>
          <p:nvSpPr>
            <p:cNvPr id="183" name="Google Shape;183;p26"/>
            <p:cNvSpPr/>
            <p:nvPr/>
          </p:nvSpPr>
          <p:spPr>
            <a:xfrm>
              <a:off x="0" y="0"/>
              <a:ext cx="5238900" cy="1047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4" name="Google Shape;184;p26"/>
            <p:cNvSpPr txBox="1"/>
            <p:nvPr/>
          </p:nvSpPr>
          <p:spPr>
            <a:xfrm>
              <a:off x="0" y="0"/>
              <a:ext cx="52389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50" b="0" dirty="0">
                  <a:solidFill>
                    <a:srgbClr val="FFFFFF"/>
                  </a:solidFill>
                  <a:latin typeface="Urbanist SemiBold"/>
                  <a:ea typeface="Urbanist SemiBold"/>
                  <a:cs typeface="Urbanist SemiBold"/>
                  <a:sym typeface="Urbanist SemiBold"/>
                </a:rPr>
                <a:t>Coordinated Rating Manipulation</a:t>
              </a:r>
              <a:endParaRPr sz="1650" b="0" dirty="0">
                <a:solidFill>
                  <a:srgbClr val="FFFFFF"/>
                </a:solidFill>
                <a:latin typeface="Urbanist SemiBold"/>
                <a:ea typeface="Urbanist SemiBold"/>
                <a:cs typeface="Urbanist SemiBold"/>
                <a:sym typeface="Urbanist SemiBold"/>
              </a:endParaRPr>
            </a:p>
            <a:p>
              <a:pPr marL="0" lvl="0" indent="0" algn="l" rtl="0">
                <a:spcBef>
                  <a:spcPts val="450"/>
                </a:spcBef>
                <a:spcAft>
                  <a:spcPts val="0"/>
                </a:spcAft>
                <a:buNone/>
              </a:pPr>
              <a:r>
                <a:rPr lang="en-US" sz="1200" b="0" dirty="0">
                  <a:solidFill>
                    <a:srgbClr val="A3A3A3"/>
                  </a:solidFill>
                  <a:latin typeface="Urbanist"/>
                  <a:ea typeface="Urbanist"/>
                  <a:cs typeface="Urbanist"/>
                  <a:sym typeface="Urbanist"/>
                </a:rPr>
                <a:t>Competitors and organized groups schedule localized attack spikes, exploiting regional release windows to synthetically boost or suppress target products.</a:t>
              </a:r>
              <a:endParaRPr sz="1200" b="0" dirty="0">
                <a:solidFill>
                  <a:srgbClr val="A3A3A3"/>
                </a:solidFill>
                <a:latin typeface="Urbanist"/>
                <a:ea typeface="Urbanist"/>
                <a:cs typeface="Urbanist"/>
                <a:sym typeface="Urbanist"/>
              </a:endParaRPr>
            </a:p>
          </p:txBody>
        </p:sp>
      </p:grpSp>
      <p:grpSp>
        <p:nvGrpSpPr>
          <p:cNvPr id="185" name="Google Shape;185;p26"/>
          <p:cNvGrpSpPr/>
          <p:nvPr/>
        </p:nvGrpSpPr>
        <p:grpSpPr>
          <a:xfrm>
            <a:off x="5715000" y="4333875"/>
            <a:ext cx="571500" cy="952500"/>
            <a:chOff x="0" y="0"/>
            <a:chExt cx="571500" cy="952500"/>
          </a:xfrm>
        </p:grpSpPr>
        <p:sp>
          <p:nvSpPr>
            <p:cNvPr id="186" name="Google Shape;186;p26"/>
            <p:cNvSpPr/>
            <p:nvPr/>
          </p:nvSpPr>
          <p:spPr>
            <a:xfrm>
              <a:off x="0" y="0"/>
              <a:ext cx="571500" cy="952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7" name="Google Shape;187;p26"/>
            <p:cNvSpPr txBox="1"/>
            <p:nvPr/>
          </p:nvSpPr>
          <p:spPr>
            <a:xfrm>
              <a:off x="0" y="0"/>
              <a:ext cx="571500" cy="952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sz="2800" b="1">
                  <a:solidFill>
                    <a:srgbClr val="DEFF9A"/>
                  </a:solidFill>
                  <a:latin typeface="Urbanist"/>
                  <a:ea typeface="Urbanist"/>
                  <a:cs typeface="Urbanist"/>
                  <a:sym typeface="Urbanist"/>
                </a:rPr>
                <a:t>03</a:t>
              </a:r>
              <a:endParaRPr sz="2800" b="1">
                <a:solidFill>
                  <a:srgbClr val="DEFF9A"/>
                </a:solidFill>
                <a:latin typeface="Urbanist"/>
                <a:ea typeface="Urbanist"/>
                <a:cs typeface="Urbanist"/>
                <a:sym typeface="Urbanist"/>
              </a:endParaRPr>
            </a:p>
          </p:txBody>
        </p:sp>
      </p:grpSp>
      <p:grpSp>
        <p:nvGrpSpPr>
          <p:cNvPr id="188" name="Google Shape;188;p26"/>
          <p:cNvGrpSpPr/>
          <p:nvPr/>
        </p:nvGrpSpPr>
        <p:grpSpPr>
          <a:xfrm>
            <a:off x="6381750" y="4333875"/>
            <a:ext cx="5238900" cy="1047900"/>
            <a:chOff x="0" y="0"/>
            <a:chExt cx="5238900" cy="1047900"/>
          </a:xfrm>
        </p:grpSpPr>
        <p:sp>
          <p:nvSpPr>
            <p:cNvPr id="189" name="Google Shape;189;p26"/>
            <p:cNvSpPr/>
            <p:nvPr/>
          </p:nvSpPr>
          <p:spPr>
            <a:xfrm>
              <a:off x="0" y="0"/>
              <a:ext cx="5238900" cy="1047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0" name="Google Shape;190;p26"/>
            <p:cNvSpPr txBox="1"/>
            <p:nvPr/>
          </p:nvSpPr>
          <p:spPr>
            <a:xfrm>
              <a:off x="0" y="0"/>
              <a:ext cx="52389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50" b="0">
                  <a:solidFill>
                    <a:srgbClr val="FFFFFF"/>
                  </a:solidFill>
                  <a:latin typeface="Urbanist SemiBold"/>
                  <a:ea typeface="Urbanist SemiBold"/>
                  <a:cs typeface="Urbanist SemiBold"/>
                  <a:sym typeface="Urbanist SemiBold"/>
                </a:rPr>
                <a:t>Extreme Operational Drain</a:t>
              </a:r>
              <a:endParaRPr sz="1650" b="0">
                <a:solidFill>
                  <a:srgbClr val="FFFFFF"/>
                </a:solidFill>
                <a:latin typeface="Urbanist SemiBold"/>
                <a:ea typeface="Urbanist SemiBold"/>
                <a:cs typeface="Urbanist SemiBold"/>
                <a:sym typeface="Urbanist SemiBold"/>
              </a:endParaRPr>
            </a:p>
            <a:p>
              <a:pPr marL="0" lvl="0" indent="0" algn="l" rtl="0">
                <a:spcBef>
                  <a:spcPts val="450"/>
                </a:spcBef>
                <a:spcAft>
                  <a:spcPts val="0"/>
                </a:spcAft>
                <a:buNone/>
              </a:pPr>
              <a:r>
                <a:rPr lang="en-US" sz="1200" b="0">
                  <a:solidFill>
                    <a:srgbClr val="A3A3A3"/>
                  </a:solidFill>
                  <a:latin typeface="Urbanist"/>
                  <a:ea typeface="Urbanist"/>
                  <a:cs typeface="Urbanist"/>
                  <a:sym typeface="Urbanist"/>
                </a:rPr>
                <a:t>Handling continuous high-velocity bot traffic severely burdens engineering pipelines, spikes cloud infrastructure costs, and overwhelms manual support teams.</a:t>
              </a:r>
              <a:endParaRPr sz="1200" b="0">
                <a:solidFill>
                  <a:srgbClr val="A3A3A3"/>
                </a:solidFill>
                <a:latin typeface="Urbanist"/>
                <a:ea typeface="Urbanist"/>
                <a:cs typeface="Urbanist"/>
                <a:sym typeface="Urbanis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6" name="Google Shape;196;p27"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197" name="Google Shape;197;p27"/>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Architecture Overview</a:t>
            </a:r>
            <a:endParaRPr/>
          </a:p>
        </p:txBody>
      </p:sp>
      <p:sp>
        <p:nvSpPr>
          <p:cNvPr id="198" name="Google Shape;198;p27"/>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27"/>
          <p:cNvSpPr txBox="1"/>
          <p:nvPr/>
        </p:nvSpPr>
        <p:spPr>
          <a:xfrm>
            <a:off x="571500" y="1695450"/>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Detectra separates individual review-risk estimation from coordinated campaign-risk detection through a complete MLOps lifecycle:</a:t>
            </a:r>
            <a:endParaRPr/>
          </a:p>
        </p:txBody>
      </p:sp>
      <p:sp>
        <p:nvSpPr>
          <p:cNvPr id="200" name="Google Shape;200;p27"/>
          <p:cNvSpPr txBox="1"/>
          <p:nvPr/>
        </p:nvSpPr>
        <p:spPr>
          <a:xfrm>
            <a:off x="876300" y="280035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Offline Training:</a:t>
            </a:r>
            <a:r>
              <a:rPr lang="en-US" sz="1500" b="0" i="0" u="none" strike="noStrike" cap="none">
                <a:solidFill>
                  <a:srgbClr val="D1D5DB"/>
                </a:solidFill>
                <a:latin typeface="Urbanist"/>
                <a:ea typeface="Urbanist"/>
                <a:cs typeface="Urbanist"/>
                <a:sym typeface="Urbanist"/>
              </a:rPr>
              <a:t> DVC, Airflow, and Ray Tune for model building.</a:t>
            </a:r>
            <a:endParaRPr/>
          </a:p>
        </p:txBody>
      </p:sp>
      <p:sp>
        <p:nvSpPr>
          <p:cNvPr id="201" name="Google Shape;201;p27"/>
          <p:cNvSpPr txBox="1"/>
          <p:nvPr/>
        </p:nvSpPr>
        <p:spPr>
          <a:xfrm>
            <a:off x="876300" y="360045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Online Streaming:</a:t>
            </a:r>
            <a:r>
              <a:rPr lang="en-US" sz="1500" b="0" i="0" u="none" strike="noStrike" cap="none">
                <a:solidFill>
                  <a:srgbClr val="D1D5DB"/>
                </a:solidFill>
                <a:latin typeface="Urbanist"/>
                <a:ea typeface="Urbanist"/>
                <a:cs typeface="Urbanist"/>
                <a:sym typeface="Urbanist"/>
              </a:rPr>
              <a:t> Kafka and Spark for real-time event windowing.</a:t>
            </a:r>
            <a:endParaRPr/>
          </a:p>
        </p:txBody>
      </p:sp>
      <p:sp>
        <p:nvSpPr>
          <p:cNvPr id="202" name="Google Shape;202;p27"/>
          <p:cNvSpPr txBox="1"/>
          <p:nvPr/>
        </p:nvSpPr>
        <p:spPr>
          <a:xfrm>
            <a:off x="876300" y="440055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Serving &amp; UI:</a:t>
            </a:r>
            <a:r>
              <a:rPr lang="en-US" sz="1500" b="0" i="0" u="none" strike="noStrike" cap="none">
                <a:solidFill>
                  <a:srgbClr val="D1D5DB"/>
                </a:solidFill>
                <a:latin typeface="Urbanist"/>
                <a:ea typeface="Urbanist"/>
                <a:cs typeface="Urbanist"/>
                <a:sym typeface="Urbanist"/>
              </a:rPr>
              <a:t> FastAPI backends driving human-in-the-loop moderation.</a:t>
            </a:r>
            <a:endParaRPr/>
          </a:p>
        </p:txBody>
      </p:sp>
      <p:sp>
        <p:nvSpPr>
          <p:cNvPr id="203" name="Google Shape;203;p27"/>
          <p:cNvSpPr txBox="1"/>
          <p:nvPr/>
        </p:nvSpPr>
        <p:spPr>
          <a:xfrm>
            <a:off x="876300" y="520065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Ops &amp; Delivery:</a:t>
            </a:r>
            <a:r>
              <a:rPr lang="en-US" sz="1500" b="0" i="0" u="none" strike="noStrike" cap="none">
                <a:solidFill>
                  <a:srgbClr val="D1D5DB"/>
                </a:solidFill>
                <a:latin typeface="Urbanist"/>
                <a:ea typeface="Urbanist"/>
                <a:cs typeface="Urbanist"/>
                <a:sym typeface="Urbanist"/>
              </a:rPr>
              <a:t> Full observability, logging, and automated CI/CD pipelines.</a:t>
            </a:r>
            <a:endParaRPr/>
          </a:p>
        </p:txBody>
      </p:sp>
      <p:pic>
        <p:nvPicPr>
          <p:cNvPr id="204" name="Google Shape;204;p27" descr="image.png"/>
          <p:cNvPicPr preferRelativeResize="0"/>
          <p:nvPr/>
        </p:nvPicPr>
        <p:blipFill rotWithShape="1">
          <a:blip r:embed="rId5">
            <a:alphaModFix/>
          </a:blip>
          <a:srcRect/>
          <a:stretch/>
        </p:blipFill>
        <p:spPr>
          <a:xfrm>
            <a:off x="571500" y="2819400"/>
            <a:ext cx="114300" cy="200025"/>
          </a:xfrm>
          <a:prstGeom prst="rect">
            <a:avLst/>
          </a:prstGeom>
          <a:noFill/>
          <a:ln>
            <a:noFill/>
          </a:ln>
        </p:spPr>
      </p:pic>
      <p:pic>
        <p:nvPicPr>
          <p:cNvPr id="205" name="Google Shape;205;p27" descr="image.png"/>
          <p:cNvPicPr preferRelativeResize="0"/>
          <p:nvPr/>
        </p:nvPicPr>
        <p:blipFill rotWithShape="1">
          <a:blip r:embed="rId5">
            <a:alphaModFix/>
          </a:blip>
          <a:srcRect/>
          <a:stretch/>
        </p:blipFill>
        <p:spPr>
          <a:xfrm>
            <a:off x="571500" y="3619500"/>
            <a:ext cx="114300" cy="200025"/>
          </a:xfrm>
          <a:prstGeom prst="rect">
            <a:avLst/>
          </a:prstGeom>
          <a:noFill/>
          <a:ln>
            <a:noFill/>
          </a:ln>
        </p:spPr>
      </p:pic>
      <p:pic>
        <p:nvPicPr>
          <p:cNvPr id="206" name="Google Shape;206;p27" descr="image.png"/>
          <p:cNvPicPr preferRelativeResize="0"/>
          <p:nvPr/>
        </p:nvPicPr>
        <p:blipFill rotWithShape="1">
          <a:blip r:embed="rId5">
            <a:alphaModFix/>
          </a:blip>
          <a:srcRect/>
          <a:stretch/>
        </p:blipFill>
        <p:spPr>
          <a:xfrm>
            <a:off x="571500" y="4419600"/>
            <a:ext cx="114300" cy="200025"/>
          </a:xfrm>
          <a:prstGeom prst="rect">
            <a:avLst/>
          </a:prstGeom>
          <a:noFill/>
          <a:ln>
            <a:noFill/>
          </a:ln>
        </p:spPr>
      </p:pic>
      <p:pic>
        <p:nvPicPr>
          <p:cNvPr id="207" name="Google Shape;207;p27" descr="image.png"/>
          <p:cNvPicPr preferRelativeResize="0"/>
          <p:nvPr/>
        </p:nvPicPr>
        <p:blipFill rotWithShape="1">
          <a:blip r:embed="rId5">
            <a:alphaModFix/>
          </a:blip>
          <a:srcRect/>
          <a:stretch/>
        </p:blipFill>
        <p:spPr>
          <a:xfrm>
            <a:off x="571500" y="5219700"/>
            <a:ext cx="114300" cy="200025"/>
          </a:xfrm>
          <a:prstGeom prst="rect">
            <a:avLst/>
          </a:prstGeom>
          <a:noFill/>
          <a:ln>
            <a:noFill/>
          </a:ln>
        </p:spPr>
      </p:pic>
      <p:pic>
        <p:nvPicPr>
          <p:cNvPr id="208" name="Google Shape;208;p27" title="full_system_architecture.png"/>
          <p:cNvPicPr preferRelativeResize="0"/>
          <p:nvPr/>
        </p:nvPicPr>
        <p:blipFill>
          <a:blip r:embed="rId6">
            <a:alphaModFix/>
          </a:blip>
          <a:stretch>
            <a:fillRect/>
          </a:stretch>
        </p:blipFill>
        <p:spPr>
          <a:xfrm>
            <a:off x="6486525" y="2186813"/>
            <a:ext cx="4981575" cy="35853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4" name="Google Shape;214;p28"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215" name="Google Shape;215;p28"/>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Data Engineering Pipeline</a:t>
            </a:r>
            <a:endParaRPr/>
          </a:p>
        </p:txBody>
      </p:sp>
      <p:sp>
        <p:nvSpPr>
          <p:cNvPr id="216" name="Google Shape;216;p28"/>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8"/>
          <p:cNvSpPr txBox="1"/>
          <p:nvPr/>
        </p:nvSpPr>
        <p:spPr>
          <a:xfrm>
            <a:off x="571500" y="2247900"/>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Raw reviews undergo strict canonicalization and quality control to prevent data leakage and ensure safe features:</a:t>
            </a:r>
            <a:endParaRPr/>
          </a:p>
        </p:txBody>
      </p:sp>
      <p:sp>
        <p:nvSpPr>
          <p:cNvPr id="218" name="Google Shape;218;p28"/>
          <p:cNvSpPr txBox="1"/>
          <p:nvPr/>
        </p:nvSpPr>
        <p:spPr>
          <a:xfrm>
            <a:off x="876300" y="30480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Normalization:</a:t>
            </a:r>
            <a:r>
              <a:rPr lang="en-US" sz="1500" b="0" i="0" u="none" strike="noStrike" cap="none">
                <a:solidFill>
                  <a:srgbClr val="D1D5DB"/>
                </a:solidFill>
                <a:latin typeface="Urbanist"/>
                <a:ea typeface="Urbanist"/>
                <a:cs typeface="Urbanist"/>
                <a:sym typeface="Urbanist"/>
              </a:rPr>
              <a:t> Standardizes UTC timestamps, language codes, and Unicode text.</a:t>
            </a:r>
            <a:endParaRPr/>
          </a:p>
        </p:txBody>
      </p:sp>
      <p:sp>
        <p:nvSpPr>
          <p:cNvPr id="219" name="Google Shape;219;p28"/>
          <p:cNvSpPr txBox="1"/>
          <p:nvPr/>
        </p:nvSpPr>
        <p:spPr>
          <a:xfrm>
            <a:off x="876300" y="38481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Leakage Prevention:</a:t>
            </a:r>
            <a:r>
              <a:rPr lang="en-US" sz="1500" b="0" i="0" u="none" strike="noStrike" cap="none">
                <a:solidFill>
                  <a:srgbClr val="D1D5DB"/>
                </a:solidFill>
                <a:latin typeface="Urbanist"/>
                <a:ea typeface="Urbanist"/>
                <a:cs typeface="Urbanist"/>
                <a:sym typeface="Urbanist"/>
              </a:rPr>
              <a:t> Future timestamps and untrusted labels are rigorously excluded.</a:t>
            </a:r>
            <a:endParaRPr/>
          </a:p>
        </p:txBody>
      </p:sp>
      <p:sp>
        <p:nvSpPr>
          <p:cNvPr id="220" name="Google Shape;220;p28"/>
          <p:cNvSpPr txBox="1"/>
          <p:nvPr/>
        </p:nvSpPr>
        <p:spPr>
          <a:xfrm>
            <a:off x="876300" y="46482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Controlled Scenarios:</a:t>
            </a:r>
            <a:r>
              <a:rPr lang="en-US" sz="1500" b="0" i="0" u="none" strike="noStrike" cap="none">
                <a:solidFill>
                  <a:srgbClr val="D1D5DB"/>
                </a:solidFill>
                <a:latin typeface="Urbanist"/>
                <a:ea typeface="Urbanist"/>
                <a:cs typeface="Urbanist"/>
                <a:sym typeface="Urbanist"/>
              </a:rPr>
              <a:t> Synthesizes realistic benign and campaign profiles for robust training.</a:t>
            </a:r>
            <a:endParaRPr/>
          </a:p>
        </p:txBody>
      </p:sp>
      <p:pic>
        <p:nvPicPr>
          <p:cNvPr id="221" name="Google Shape;221;p28" descr="image.png"/>
          <p:cNvPicPr preferRelativeResize="0"/>
          <p:nvPr/>
        </p:nvPicPr>
        <p:blipFill rotWithShape="1">
          <a:blip r:embed="rId5">
            <a:alphaModFix/>
          </a:blip>
          <a:srcRect/>
          <a:stretch/>
        </p:blipFill>
        <p:spPr>
          <a:xfrm>
            <a:off x="571500" y="3067050"/>
            <a:ext cx="114300" cy="200025"/>
          </a:xfrm>
          <a:prstGeom prst="rect">
            <a:avLst/>
          </a:prstGeom>
          <a:noFill/>
          <a:ln>
            <a:noFill/>
          </a:ln>
        </p:spPr>
      </p:pic>
      <p:pic>
        <p:nvPicPr>
          <p:cNvPr id="222" name="Google Shape;222;p28" descr="image.png"/>
          <p:cNvPicPr preferRelativeResize="0"/>
          <p:nvPr/>
        </p:nvPicPr>
        <p:blipFill rotWithShape="1">
          <a:blip r:embed="rId5">
            <a:alphaModFix/>
          </a:blip>
          <a:srcRect/>
          <a:stretch/>
        </p:blipFill>
        <p:spPr>
          <a:xfrm>
            <a:off x="571500" y="3867150"/>
            <a:ext cx="114300" cy="200025"/>
          </a:xfrm>
          <a:prstGeom prst="rect">
            <a:avLst/>
          </a:prstGeom>
          <a:noFill/>
          <a:ln>
            <a:noFill/>
          </a:ln>
        </p:spPr>
      </p:pic>
      <p:pic>
        <p:nvPicPr>
          <p:cNvPr id="223" name="Google Shape;223;p28" descr="image.png"/>
          <p:cNvPicPr preferRelativeResize="0"/>
          <p:nvPr/>
        </p:nvPicPr>
        <p:blipFill rotWithShape="1">
          <a:blip r:embed="rId5">
            <a:alphaModFix/>
          </a:blip>
          <a:srcRect/>
          <a:stretch/>
        </p:blipFill>
        <p:spPr>
          <a:xfrm>
            <a:off x="571500" y="4667250"/>
            <a:ext cx="114300" cy="200025"/>
          </a:xfrm>
          <a:prstGeom prst="rect">
            <a:avLst/>
          </a:prstGeom>
          <a:noFill/>
          <a:ln>
            <a:noFill/>
          </a:ln>
        </p:spPr>
      </p:pic>
      <p:pic>
        <p:nvPicPr>
          <p:cNvPr id="224" name="Google Shape;224;p28" title="data_etl.png"/>
          <p:cNvPicPr preferRelativeResize="0"/>
          <p:nvPr/>
        </p:nvPicPr>
        <p:blipFill>
          <a:blip r:embed="rId6">
            <a:alphaModFix/>
          </a:blip>
          <a:stretch>
            <a:fillRect/>
          </a:stretch>
        </p:blipFill>
        <p:spPr>
          <a:xfrm>
            <a:off x="6560025" y="2010175"/>
            <a:ext cx="4834575" cy="3420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0" name="Google Shape;230;p29"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231" name="Google Shape;231;p29"/>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Data Versioning with DVC</a:t>
            </a:r>
            <a:endParaRPr/>
          </a:p>
        </p:txBody>
      </p:sp>
      <p:sp>
        <p:nvSpPr>
          <p:cNvPr id="232" name="Google Shape;232;p29"/>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9"/>
          <p:cNvSpPr txBox="1"/>
          <p:nvPr/>
        </p:nvSpPr>
        <p:spPr>
          <a:xfrm>
            <a:off x="571500" y="2247900"/>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Detectra guarantees exact reproducibility by separating the text supervision data from unlabelled behavioral data:</a:t>
            </a:r>
            <a:endParaRPr/>
          </a:p>
        </p:txBody>
      </p:sp>
      <p:sp>
        <p:nvSpPr>
          <p:cNvPr id="234" name="Google Shape;234;p29"/>
          <p:cNvSpPr txBox="1"/>
          <p:nvPr/>
        </p:nvSpPr>
        <p:spPr>
          <a:xfrm>
            <a:off x="876300" y="30480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Data Snapshots:</a:t>
            </a:r>
            <a:r>
              <a:rPr lang="en-US" sz="1500" b="0" i="0" u="none" strike="noStrike" cap="none">
                <a:solidFill>
                  <a:srgbClr val="D1D5DB"/>
                </a:solidFill>
                <a:latin typeface="Urbanist"/>
                <a:ea typeface="Urbanist"/>
                <a:cs typeface="Urbanist"/>
                <a:sym typeface="Urbanist"/>
              </a:rPr>
              <a:t> DVC hashes and tracks dataset states across the pipeline.</a:t>
            </a:r>
            <a:endParaRPr/>
          </a:p>
        </p:txBody>
      </p:sp>
      <p:sp>
        <p:nvSpPr>
          <p:cNvPr id="235" name="Google Shape;235;p29"/>
          <p:cNvSpPr txBox="1"/>
          <p:nvPr/>
        </p:nvSpPr>
        <p:spPr>
          <a:xfrm>
            <a:off x="876300" y="38481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Remote Storage:</a:t>
            </a:r>
            <a:r>
              <a:rPr lang="en-US" sz="1500" b="0" i="0" u="none" strike="noStrike" cap="none">
                <a:solidFill>
                  <a:srgbClr val="D1D5DB"/>
                </a:solidFill>
                <a:latin typeface="Urbanist"/>
                <a:ea typeface="Urbanist"/>
                <a:cs typeface="Urbanist"/>
                <a:sym typeface="Urbanist"/>
              </a:rPr>
              <a:t> Large artifacts are securely pushed to S3/MinIO.</a:t>
            </a:r>
            <a:endParaRPr/>
          </a:p>
        </p:txBody>
      </p:sp>
      <p:sp>
        <p:nvSpPr>
          <p:cNvPr id="236" name="Google Shape;236;p29"/>
          <p:cNvSpPr txBox="1"/>
          <p:nvPr/>
        </p:nvSpPr>
        <p:spPr>
          <a:xfrm>
            <a:off x="876300" y="46482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Traceability:</a:t>
            </a:r>
            <a:r>
              <a:rPr lang="en-US" sz="1500" b="0" i="0" u="none" strike="noStrike" cap="none">
                <a:solidFill>
                  <a:srgbClr val="D1D5DB"/>
                </a:solidFill>
                <a:latin typeface="Urbanist"/>
                <a:ea typeface="Urbanist"/>
                <a:cs typeface="Urbanist"/>
                <a:sym typeface="Urbanist"/>
              </a:rPr>
              <a:t> Every prediction can be traced back to its exact DVC manifest and Git commit.</a:t>
            </a:r>
            <a:endParaRPr/>
          </a:p>
        </p:txBody>
      </p:sp>
      <p:pic>
        <p:nvPicPr>
          <p:cNvPr id="237" name="Google Shape;237;p29" descr="image.png"/>
          <p:cNvPicPr preferRelativeResize="0"/>
          <p:nvPr/>
        </p:nvPicPr>
        <p:blipFill rotWithShape="1">
          <a:blip r:embed="rId5">
            <a:alphaModFix/>
          </a:blip>
          <a:srcRect/>
          <a:stretch/>
        </p:blipFill>
        <p:spPr>
          <a:xfrm>
            <a:off x="571500" y="3067050"/>
            <a:ext cx="114300" cy="200025"/>
          </a:xfrm>
          <a:prstGeom prst="rect">
            <a:avLst/>
          </a:prstGeom>
          <a:noFill/>
          <a:ln>
            <a:noFill/>
          </a:ln>
        </p:spPr>
      </p:pic>
      <p:pic>
        <p:nvPicPr>
          <p:cNvPr id="238" name="Google Shape;238;p29" descr="image.png"/>
          <p:cNvPicPr preferRelativeResize="0"/>
          <p:nvPr/>
        </p:nvPicPr>
        <p:blipFill rotWithShape="1">
          <a:blip r:embed="rId5">
            <a:alphaModFix/>
          </a:blip>
          <a:srcRect/>
          <a:stretch/>
        </p:blipFill>
        <p:spPr>
          <a:xfrm>
            <a:off x="571500" y="3867150"/>
            <a:ext cx="114300" cy="200025"/>
          </a:xfrm>
          <a:prstGeom prst="rect">
            <a:avLst/>
          </a:prstGeom>
          <a:noFill/>
          <a:ln>
            <a:noFill/>
          </a:ln>
        </p:spPr>
      </p:pic>
      <p:pic>
        <p:nvPicPr>
          <p:cNvPr id="239" name="Google Shape;239;p29" descr="image.png"/>
          <p:cNvPicPr preferRelativeResize="0"/>
          <p:nvPr/>
        </p:nvPicPr>
        <p:blipFill rotWithShape="1">
          <a:blip r:embed="rId5">
            <a:alphaModFix/>
          </a:blip>
          <a:srcRect/>
          <a:stretch/>
        </p:blipFill>
        <p:spPr>
          <a:xfrm>
            <a:off x="571500" y="4667250"/>
            <a:ext cx="114300" cy="200025"/>
          </a:xfrm>
          <a:prstGeom prst="rect">
            <a:avLst/>
          </a:prstGeom>
          <a:noFill/>
          <a:ln>
            <a:noFill/>
          </a:ln>
        </p:spPr>
      </p:pic>
      <p:pic>
        <p:nvPicPr>
          <p:cNvPr id="240" name="Google Shape;240;p29" title="dvc_storage.png"/>
          <p:cNvPicPr preferRelativeResize="0"/>
          <p:nvPr/>
        </p:nvPicPr>
        <p:blipFill>
          <a:blip r:embed="rId6">
            <a:alphaModFix/>
          </a:blip>
          <a:stretch>
            <a:fillRect/>
          </a:stretch>
        </p:blipFill>
        <p:spPr>
          <a:xfrm>
            <a:off x="6569588" y="2263500"/>
            <a:ext cx="4815449" cy="34073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6" name="Google Shape;246;p30"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247" name="Google Shape;247;p30"/>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Campaign Feature Engineering</a:t>
            </a:r>
            <a:endParaRPr/>
          </a:p>
        </p:txBody>
      </p:sp>
      <p:sp>
        <p:nvSpPr>
          <p:cNvPr id="248" name="Google Shape;248;p30"/>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30"/>
          <p:cNvSpPr txBox="1"/>
          <p:nvPr/>
        </p:nvSpPr>
        <p:spPr>
          <a:xfrm>
            <a:off x="571500" y="2247900"/>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The campaign model relies on a hybrid architecture that evaluates both semantics and behavior:</a:t>
            </a:r>
            <a:endParaRPr/>
          </a:p>
        </p:txBody>
      </p:sp>
      <p:sp>
        <p:nvSpPr>
          <p:cNvPr id="250" name="Google Shape;250;p30"/>
          <p:cNvSpPr txBox="1"/>
          <p:nvPr/>
        </p:nvSpPr>
        <p:spPr>
          <a:xfrm>
            <a:off x="876300" y="30480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Semantic Text Branch:</a:t>
            </a:r>
            <a:r>
              <a:rPr lang="en-US" sz="1500" b="0" i="0" u="none" strike="noStrike" cap="none">
                <a:solidFill>
                  <a:srgbClr val="D1D5DB"/>
                </a:solidFill>
                <a:latin typeface="Urbanist"/>
                <a:ea typeface="Urbanist"/>
                <a:cs typeface="Urbanist"/>
                <a:sym typeface="Urbanist"/>
              </a:rPr>
              <a:t> Fine-tuned DistilBERT encodes textual similarity among grouped reviews.</a:t>
            </a:r>
            <a:endParaRPr/>
          </a:p>
        </p:txBody>
      </p:sp>
      <p:sp>
        <p:nvSpPr>
          <p:cNvPr id="251" name="Google Shape;251;p30"/>
          <p:cNvSpPr txBox="1"/>
          <p:nvPr/>
        </p:nvSpPr>
        <p:spPr>
          <a:xfrm>
            <a:off x="876300" y="38481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Numeric Branch:</a:t>
            </a:r>
            <a:r>
              <a:rPr lang="en-US" sz="1500" b="0" i="0" u="none" strike="noStrike" cap="none">
                <a:solidFill>
                  <a:srgbClr val="D1D5DB"/>
                </a:solidFill>
                <a:latin typeface="Urbanist"/>
                <a:ea typeface="Urbanist"/>
                <a:cs typeface="Urbanist"/>
                <a:sym typeface="Urbanist"/>
              </a:rPr>
              <a:t> 15 behavioral features track volume, temporal spacing, verification, and rating entropy.</a:t>
            </a:r>
            <a:endParaRPr/>
          </a:p>
        </p:txBody>
      </p:sp>
      <p:sp>
        <p:nvSpPr>
          <p:cNvPr id="252" name="Google Shape;252;p30"/>
          <p:cNvSpPr txBox="1"/>
          <p:nvPr/>
        </p:nvSpPr>
        <p:spPr>
          <a:xfrm>
            <a:off x="876300" y="46482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Feature Fusion:</a:t>
            </a:r>
            <a:r>
              <a:rPr lang="en-US" sz="1500" b="0" i="0" u="none" strike="noStrike" cap="none">
                <a:solidFill>
                  <a:srgbClr val="D1D5DB"/>
                </a:solidFill>
                <a:latin typeface="Urbanist"/>
                <a:ea typeface="Urbanist"/>
                <a:cs typeface="Urbanist"/>
                <a:sym typeface="Urbanist"/>
              </a:rPr>
              <a:t> Concatenates both branches to accurately classify coordinated abuse.</a:t>
            </a:r>
            <a:endParaRPr/>
          </a:p>
        </p:txBody>
      </p:sp>
      <p:pic>
        <p:nvPicPr>
          <p:cNvPr id="253" name="Google Shape;253;p30" descr="image.png"/>
          <p:cNvPicPr preferRelativeResize="0"/>
          <p:nvPr/>
        </p:nvPicPr>
        <p:blipFill rotWithShape="1">
          <a:blip r:embed="rId5">
            <a:alphaModFix/>
          </a:blip>
          <a:srcRect/>
          <a:stretch/>
        </p:blipFill>
        <p:spPr>
          <a:xfrm>
            <a:off x="571500" y="3067050"/>
            <a:ext cx="114300" cy="200025"/>
          </a:xfrm>
          <a:prstGeom prst="rect">
            <a:avLst/>
          </a:prstGeom>
          <a:noFill/>
          <a:ln>
            <a:noFill/>
          </a:ln>
        </p:spPr>
      </p:pic>
      <p:pic>
        <p:nvPicPr>
          <p:cNvPr id="254" name="Google Shape;254;p30" descr="image.png"/>
          <p:cNvPicPr preferRelativeResize="0"/>
          <p:nvPr/>
        </p:nvPicPr>
        <p:blipFill rotWithShape="1">
          <a:blip r:embed="rId5">
            <a:alphaModFix/>
          </a:blip>
          <a:srcRect/>
          <a:stretch/>
        </p:blipFill>
        <p:spPr>
          <a:xfrm>
            <a:off x="571500" y="3867150"/>
            <a:ext cx="114300" cy="200025"/>
          </a:xfrm>
          <a:prstGeom prst="rect">
            <a:avLst/>
          </a:prstGeom>
          <a:noFill/>
          <a:ln>
            <a:noFill/>
          </a:ln>
        </p:spPr>
      </p:pic>
      <p:pic>
        <p:nvPicPr>
          <p:cNvPr id="255" name="Google Shape;255;p30" descr="image.png"/>
          <p:cNvPicPr preferRelativeResize="0"/>
          <p:nvPr/>
        </p:nvPicPr>
        <p:blipFill rotWithShape="1">
          <a:blip r:embed="rId5">
            <a:alphaModFix/>
          </a:blip>
          <a:srcRect/>
          <a:stretch/>
        </p:blipFill>
        <p:spPr>
          <a:xfrm>
            <a:off x="571500" y="4667250"/>
            <a:ext cx="114300" cy="200025"/>
          </a:xfrm>
          <a:prstGeom prst="rect">
            <a:avLst/>
          </a:prstGeom>
          <a:noFill/>
          <a:ln>
            <a:noFill/>
          </a:ln>
        </p:spPr>
      </p:pic>
      <p:pic>
        <p:nvPicPr>
          <p:cNvPr id="256" name="Google Shape;256;p30" title="feature_engineering.png"/>
          <p:cNvPicPr preferRelativeResize="0"/>
          <p:nvPr/>
        </p:nvPicPr>
        <p:blipFill>
          <a:blip r:embed="rId6">
            <a:alphaModFix/>
          </a:blip>
          <a:stretch>
            <a:fillRect/>
          </a:stretch>
        </p:blipFill>
        <p:spPr>
          <a:xfrm>
            <a:off x="6486524" y="2204737"/>
            <a:ext cx="4981576" cy="352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2" name="Google Shape;262;p31"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263" name="Google Shape;263;p31"/>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Workflow Orchestration</a:t>
            </a:r>
            <a:endParaRPr/>
          </a:p>
        </p:txBody>
      </p:sp>
      <p:sp>
        <p:nvSpPr>
          <p:cNvPr id="264" name="Google Shape;264;p31"/>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31"/>
          <p:cNvSpPr txBox="1"/>
          <p:nvPr/>
        </p:nvSpPr>
        <p:spPr>
          <a:xfrm>
            <a:off x="571500" y="2247900"/>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Apache Airflow serves as the primary scheduler for finite, bounded ML workloads:</a:t>
            </a:r>
            <a:endParaRPr/>
          </a:p>
        </p:txBody>
      </p:sp>
      <p:sp>
        <p:nvSpPr>
          <p:cNvPr id="266" name="Google Shape;266;p31"/>
          <p:cNvSpPr txBox="1"/>
          <p:nvPr/>
        </p:nvSpPr>
        <p:spPr>
          <a:xfrm>
            <a:off x="876300" y="30480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Job Separation:</a:t>
            </a:r>
            <a:r>
              <a:rPr lang="en-US" sz="1500" b="0" i="0" u="none" strike="noStrike" cap="none">
                <a:solidFill>
                  <a:srgbClr val="D1D5DB"/>
                </a:solidFill>
                <a:latin typeface="Urbanist"/>
                <a:ea typeface="Urbanist"/>
                <a:cs typeface="Urbanist"/>
                <a:sym typeface="Urbanist"/>
              </a:rPr>
              <a:t> Airflow manages task dependencies but offloads heavy compute to the Ray Cluster.</a:t>
            </a:r>
            <a:endParaRPr/>
          </a:p>
        </p:txBody>
      </p:sp>
      <p:sp>
        <p:nvSpPr>
          <p:cNvPr id="267" name="Google Shape;267;p31"/>
          <p:cNvSpPr txBox="1"/>
          <p:nvPr/>
        </p:nvSpPr>
        <p:spPr>
          <a:xfrm>
            <a:off x="876300" y="38481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Ordered Execution:</a:t>
            </a:r>
            <a:r>
              <a:rPr lang="en-US" sz="1500" b="0" i="0" u="none" strike="noStrike" cap="none">
                <a:solidFill>
                  <a:srgbClr val="D1D5DB"/>
                </a:solidFill>
                <a:latin typeface="Urbanist"/>
                <a:ea typeface="Urbanist"/>
                <a:cs typeface="Urbanist"/>
                <a:sym typeface="Urbanist"/>
              </a:rPr>
              <a:t> Sequences bundle creation, data splitting, and model training tasks.</a:t>
            </a:r>
            <a:endParaRPr/>
          </a:p>
        </p:txBody>
      </p:sp>
      <p:sp>
        <p:nvSpPr>
          <p:cNvPr id="268" name="Google Shape;268;p31"/>
          <p:cNvSpPr txBox="1"/>
          <p:nvPr/>
        </p:nvSpPr>
        <p:spPr>
          <a:xfrm>
            <a:off x="876300" y="46482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Automated Tracking:</a:t>
            </a:r>
            <a:r>
              <a:rPr lang="en-US" sz="1500" b="0" i="0" u="none" strike="noStrike" cap="none">
                <a:solidFill>
                  <a:srgbClr val="D1D5DB"/>
                </a:solidFill>
                <a:latin typeface="Urbanist"/>
                <a:ea typeface="Urbanist"/>
                <a:cs typeface="Urbanist"/>
                <a:sym typeface="Urbanist"/>
              </a:rPr>
              <a:t> Ensures successful jobs automatically log metrics and artifacts to MLflow.</a:t>
            </a:r>
            <a:endParaRPr/>
          </a:p>
        </p:txBody>
      </p:sp>
      <p:pic>
        <p:nvPicPr>
          <p:cNvPr id="269" name="Google Shape;269;p31" descr="image.png"/>
          <p:cNvPicPr preferRelativeResize="0"/>
          <p:nvPr/>
        </p:nvPicPr>
        <p:blipFill rotWithShape="1">
          <a:blip r:embed="rId5">
            <a:alphaModFix/>
          </a:blip>
          <a:srcRect/>
          <a:stretch/>
        </p:blipFill>
        <p:spPr>
          <a:xfrm>
            <a:off x="571500" y="3067050"/>
            <a:ext cx="114300" cy="200025"/>
          </a:xfrm>
          <a:prstGeom prst="rect">
            <a:avLst/>
          </a:prstGeom>
          <a:noFill/>
          <a:ln>
            <a:noFill/>
          </a:ln>
        </p:spPr>
      </p:pic>
      <p:pic>
        <p:nvPicPr>
          <p:cNvPr id="270" name="Google Shape;270;p31" descr="image.png"/>
          <p:cNvPicPr preferRelativeResize="0"/>
          <p:nvPr/>
        </p:nvPicPr>
        <p:blipFill rotWithShape="1">
          <a:blip r:embed="rId5">
            <a:alphaModFix/>
          </a:blip>
          <a:srcRect/>
          <a:stretch/>
        </p:blipFill>
        <p:spPr>
          <a:xfrm>
            <a:off x="571500" y="3867150"/>
            <a:ext cx="114300" cy="200025"/>
          </a:xfrm>
          <a:prstGeom prst="rect">
            <a:avLst/>
          </a:prstGeom>
          <a:noFill/>
          <a:ln>
            <a:noFill/>
          </a:ln>
        </p:spPr>
      </p:pic>
      <p:pic>
        <p:nvPicPr>
          <p:cNvPr id="271" name="Google Shape;271;p31" descr="image.png"/>
          <p:cNvPicPr preferRelativeResize="0"/>
          <p:nvPr/>
        </p:nvPicPr>
        <p:blipFill rotWithShape="1">
          <a:blip r:embed="rId5">
            <a:alphaModFix/>
          </a:blip>
          <a:srcRect/>
          <a:stretch/>
        </p:blipFill>
        <p:spPr>
          <a:xfrm>
            <a:off x="571500" y="4667250"/>
            <a:ext cx="114300" cy="200025"/>
          </a:xfrm>
          <a:prstGeom prst="rect">
            <a:avLst/>
          </a:prstGeom>
          <a:noFill/>
          <a:ln>
            <a:noFill/>
          </a:ln>
        </p:spPr>
      </p:pic>
      <p:pic>
        <p:nvPicPr>
          <p:cNvPr id="272" name="Google Shape;272;p31" title="airflow.png"/>
          <p:cNvPicPr preferRelativeResize="0"/>
          <p:nvPr/>
        </p:nvPicPr>
        <p:blipFill>
          <a:blip r:embed="rId6">
            <a:alphaModFix/>
          </a:blip>
          <a:stretch>
            <a:fillRect/>
          </a:stretch>
        </p:blipFill>
        <p:spPr>
          <a:xfrm>
            <a:off x="6444200" y="2055726"/>
            <a:ext cx="5066224" cy="358475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8" name="Google Shape;278;p32"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279" name="Google Shape;279;p32"/>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Model Development Tracks</a:t>
            </a:r>
            <a:endParaRPr/>
          </a:p>
        </p:txBody>
      </p:sp>
      <p:sp>
        <p:nvSpPr>
          <p:cNvPr id="280" name="Google Shape;280;p32"/>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32"/>
          <p:cNvSpPr txBox="1"/>
          <p:nvPr/>
        </p:nvSpPr>
        <p:spPr>
          <a:xfrm>
            <a:off x="571500" y="2247900"/>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Three parallel tracks ensure rigorous benchmarking and optimized inference:</a:t>
            </a:r>
            <a:endParaRPr/>
          </a:p>
        </p:txBody>
      </p:sp>
      <p:sp>
        <p:nvSpPr>
          <p:cNvPr id="282" name="Google Shape;282;p32"/>
          <p:cNvSpPr txBox="1"/>
          <p:nvPr/>
        </p:nvSpPr>
        <p:spPr>
          <a:xfrm>
            <a:off x="876300" y="30480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Baseline:</a:t>
            </a:r>
            <a:r>
              <a:rPr lang="en-US" sz="1500" b="0" i="0" u="none" strike="noStrike" cap="none">
                <a:solidFill>
                  <a:srgbClr val="D1D5DB"/>
                </a:solidFill>
                <a:latin typeface="Urbanist"/>
                <a:ea typeface="Urbanist"/>
                <a:cs typeface="Urbanist"/>
                <a:sym typeface="Urbanist"/>
              </a:rPr>
              <a:t> TF-IDF with Logistic Regression for fast, deterministic fallbacks.</a:t>
            </a:r>
            <a:endParaRPr/>
          </a:p>
        </p:txBody>
      </p:sp>
      <p:sp>
        <p:nvSpPr>
          <p:cNvPr id="283" name="Google Shape;283;p32"/>
          <p:cNvSpPr txBox="1"/>
          <p:nvPr/>
        </p:nvSpPr>
        <p:spPr>
          <a:xfrm>
            <a:off x="876300" y="38481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Review-Risk:</a:t>
            </a:r>
            <a:r>
              <a:rPr lang="en-US" sz="1500" b="0" i="0" u="none" strike="noStrike" cap="none">
                <a:solidFill>
                  <a:srgbClr val="D1D5DB"/>
                </a:solidFill>
                <a:latin typeface="Urbanist"/>
                <a:ea typeface="Urbanist"/>
                <a:cs typeface="Urbanist"/>
                <a:sym typeface="Urbanist"/>
              </a:rPr>
              <a:t> DistilBERT fine-tuned for individual review classification.</a:t>
            </a:r>
            <a:endParaRPr/>
          </a:p>
        </p:txBody>
      </p:sp>
      <p:sp>
        <p:nvSpPr>
          <p:cNvPr id="284" name="Google Shape;284;p32"/>
          <p:cNvSpPr txBox="1"/>
          <p:nvPr/>
        </p:nvSpPr>
        <p:spPr>
          <a:xfrm>
            <a:off x="876300" y="4648200"/>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Campaign-Risk:</a:t>
            </a:r>
            <a:r>
              <a:rPr lang="en-US" sz="1500" b="0" i="0" u="none" strike="noStrike" cap="none">
                <a:solidFill>
                  <a:srgbClr val="D1D5DB"/>
                </a:solidFill>
                <a:latin typeface="Urbanist"/>
                <a:ea typeface="Urbanist"/>
                <a:cs typeface="Urbanist"/>
                <a:sym typeface="Urbanist"/>
              </a:rPr>
              <a:t> The hybrid model trained via Ray Tune utilizing ASHA for early stopping.</a:t>
            </a:r>
            <a:endParaRPr/>
          </a:p>
        </p:txBody>
      </p:sp>
      <p:pic>
        <p:nvPicPr>
          <p:cNvPr id="285" name="Google Shape;285;p32" descr="image.png"/>
          <p:cNvPicPr preferRelativeResize="0"/>
          <p:nvPr/>
        </p:nvPicPr>
        <p:blipFill rotWithShape="1">
          <a:blip r:embed="rId5">
            <a:alphaModFix/>
          </a:blip>
          <a:srcRect/>
          <a:stretch/>
        </p:blipFill>
        <p:spPr>
          <a:xfrm>
            <a:off x="571500" y="3067050"/>
            <a:ext cx="114300" cy="200025"/>
          </a:xfrm>
          <a:prstGeom prst="rect">
            <a:avLst/>
          </a:prstGeom>
          <a:noFill/>
          <a:ln>
            <a:noFill/>
          </a:ln>
        </p:spPr>
      </p:pic>
      <p:pic>
        <p:nvPicPr>
          <p:cNvPr id="286" name="Google Shape;286;p32" descr="image.png"/>
          <p:cNvPicPr preferRelativeResize="0"/>
          <p:nvPr/>
        </p:nvPicPr>
        <p:blipFill rotWithShape="1">
          <a:blip r:embed="rId5">
            <a:alphaModFix/>
          </a:blip>
          <a:srcRect/>
          <a:stretch/>
        </p:blipFill>
        <p:spPr>
          <a:xfrm>
            <a:off x="571500" y="3867150"/>
            <a:ext cx="114300" cy="200025"/>
          </a:xfrm>
          <a:prstGeom prst="rect">
            <a:avLst/>
          </a:prstGeom>
          <a:noFill/>
          <a:ln>
            <a:noFill/>
          </a:ln>
        </p:spPr>
      </p:pic>
      <p:pic>
        <p:nvPicPr>
          <p:cNvPr id="287" name="Google Shape;287;p32" descr="image.png"/>
          <p:cNvPicPr preferRelativeResize="0"/>
          <p:nvPr/>
        </p:nvPicPr>
        <p:blipFill rotWithShape="1">
          <a:blip r:embed="rId5">
            <a:alphaModFix/>
          </a:blip>
          <a:srcRect/>
          <a:stretch/>
        </p:blipFill>
        <p:spPr>
          <a:xfrm>
            <a:off x="571500" y="4667250"/>
            <a:ext cx="114300" cy="200025"/>
          </a:xfrm>
          <a:prstGeom prst="rect">
            <a:avLst/>
          </a:prstGeom>
          <a:noFill/>
          <a:ln>
            <a:noFill/>
          </a:ln>
        </p:spPr>
      </p:pic>
      <p:pic>
        <p:nvPicPr>
          <p:cNvPr id="288" name="Google Shape;288;p32" title="model.png"/>
          <p:cNvPicPr preferRelativeResize="0"/>
          <p:nvPr/>
        </p:nvPicPr>
        <p:blipFill>
          <a:blip r:embed="rId6">
            <a:alphaModFix/>
          </a:blip>
          <a:stretch>
            <a:fillRect/>
          </a:stretch>
        </p:blipFill>
        <p:spPr>
          <a:xfrm>
            <a:off x="6523250" y="1961300"/>
            <a:ext cx="4908126" cy="3472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4" name="Google Shape;294;p33"/>
          <p:cNvSpPr txBox="1"/>
          <p:nvPr/>
        </p:nvSpPr>
        <p:spPr>
          <a:xfrm>
            <a:off x="723900" y="571500"/>
            <a:ext cx="1144143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Model Performance Metrics</a:t>
            </a:r>
            <a:endParaRPr/>
          </a:p>
        </p:txBody>
      </p:sp>
      <p:sp>
        <p:nvSpPr>
          <p:cNvPr id="295" name="Google Shape;295;p33"/>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33"/>
          <p:cNvSpPr txBox="1"/>
          <p:nvPr/>
        </p:nvSpPr>
        <p:spPr>
          <a:xfrm>
            <a:off x="571500" y="1676400"/>
            <a:ext cx="11049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Validation results for the promoted DistilBERT Review-Risk model, optimized for minority-class screening rather than raw accuracy.</a:t>
            </a:r>
            <a:endParaRPr/>
          </a:p>
        </p:txBody>
      </p:sp>
      <p:sp>
        <p:nvSpPr>
          <p:cNvPr id="297" name="Google Shape;297;p33"/>
          <p:cNvSpPr/>
          <p:nvPr/>
        </p:nvSpPr>
        <p:spPr>
          <a:xfrm>
            <a:off x="581025" y="2909887"/>
            <a:ext cx="307151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33"/>
          <p:cNvSpPr/>
          <p:nvPr/>
        </p:nvSpPr>
        <p:spPr>
          <a:xfrm>
            <a:off x="3652539" y="2909887"/>
            <a:ext cx="2727870"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9" name="Google Shape;299;p33"/>
          <p:cNvSpPr/>
          <p:nvPr/>
        </p:nvSpPr>
        <p:spPr>
          <a:xfrm>
            <a:off x="6380410" y="2909887"/>
            <a:ext cx="523056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33"/>
          <p:cNvSpPr/>
          <p:nvPr/>
        </p:nvSpPr>
        <p:spPr>
          <a:xfrm>
            <a:off x="581025" y="3529012"/>
            <a:ext cx="307151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33"/>
          <p:cNvSpPr/>
          <p:nvPr/>
        </p:nvSpPr>
        <p:spPr>
          <a:xfrm>
            <a:off x="3652539" y="3529012"/>
            <a:ext cx="2727870"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33"/>
          <p:cNvSpPr/>
          <p:nvPr/>
        </p:nvSpPr>
        <p:spPr>
          <a:xfrm>
            <a:off x="6380410" y="3529012"/>
            <a:ext cx="523056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33"/>
          <p:cNvSpPr/>
          <p:nvPr/>
        </p:nvSpPr>
        <p:spPr>
          <a:xfrm>
            <a:off x="581025" y="4148137"/>
            <a:ext cx="307151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33"/>
          <p:cNvSpPr/>
          <p:nvPr/>
        </p:nvSpPr>
        <p:spPr>
          <a:xfrm>
            <a:off x="3652539" y="4148137"/>
            <a:ext cx="2727870"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33"/>
          <p:cNvSpPr/>
          <p:nvPr/>
        </p:nvSpPr>
        <p:spPr>
          <a:xfrm>
            <a:off x="6380410" y="4148137"/>
            <a:ext cx="523056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33"/>
          <p:cNvSpPr/>
          <p:nvPr/>
        </p:nvSpPr>
        <p:spPr>
          <a:xfrm>
            <a:off x="581025" y="4767262"/>
            <a:ext cx="307151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33"/>
          <p:cNvSpPr/>
          <p:nvPr/>
        </p:nvSpPr>
        <p:spPr>
          <a:xfrm>
            <a:off x="3652539" y="4767262"/>
            <a:ext cx="2727870"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33"/>
          <p:cNvSpPr/>
          <p:nvPr/>
        </p:nvSpPr>
        <p:spPr>
          <a:xfrm>
            <a:off x="6380410" y="4767262"/>
            <a:ext cx="523056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33"/>
          <p:cNvSpPr/>
          <p:nvPr/>
        </p:nvSpPr>
        <p:spPr>
          <a:xfrm>
            <a:off x="581025" y="5386387"/>
            <a:ext cx="307151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33"/>
          <p:cNvSpPr/>
          <p:nvPr/>
        </p:nvSpPr>
        <p:spPr>
          <a:xfrm>
            <a:off x="3652539" y="5386387"/>
            <a:ext cx="2727870"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33"/>
          <p:cNvSpPr/>
          <p:nvPr/>
        </p:nvSpPr>
        <p:spPr>
          <a:xfrm>
            <a:off x="6380410" y="5386387"/>
            <a:ext cx="5230564"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2" name="Google Shape;312;p33" title="model_comparison.png"/>
          <p:cNvPicPr preferRelativeResize="0"/>
          <p:nvPr/>
        </p:nvPicPr>
        <p:blipFill>
          <a:blip r:embed="rId4">
            <a:alphaModFix/>
          </a:blip>
          <a:stretch>
            <a:fillRect/>
          </a:stretch>
        </p:blipFill>
        <p:spPr>
          <a:xfrm>
            <a:off x="2144950" y="2266948"/>
            <a:ext cx="7902100" cy="43195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8" name="Google Shape;318;p34" descr="image.png"/>
          <p:cNvPicPr preferRelativeResize="0"/>
          <p:nvPr/>
        </p:nvPicPr>
        <p:blipFill rotWithShape="1">
          <a:blip r:embed="rId4">
            <a:alphaModFix/>
          </a:blip>
          <a:srcRect/>
          <a:stretch/>
        </p:blipFill>
        <p:spPr>
          <a:xfrm>
            <a:off x="6334125" y="1562100"/>
            <a:ext cx="5286375" cy="4572000"/>
          </a:xfrm>
          <a:prstGeom prst="rect">
            <a:avLst/>
          </a:prstGeom>
          <a:noFill/>
          <a:ln>
            <a:noFill/>
          </a:ln>
        </p:spPr>
      </p:pic>
      <p:sp>
        <p:nvSpPr>
          <p:cNvPr id="319" name="Google Shape;319;p34"/>
          <p:cNvSpPr txBox="1"/>
          <p:nvPr/>
        </p:nvSpPr>
        <p:spPr>
          <a:xfrm>
            <a:off x="723900" y="571500"/>
            <a:ext cx="114414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b="0" i="0" u="none" strike="noStrike" cap="none">
                <a:solidFill>
                  <a:srgbClr val="F5F5F5"/>
                </a:solidFill>
                <a:latin typeface="Urbanist SemiBold"/>
                <a:ea typeface="Urbanist SemiBold"/>
                <a:cs typeface="Urbanist SemiBold"/>
                <a:sym typeface="Urbanist SemiBold"/>
              </a:rPr>
              <a:t>Monitoring , Logging &amp; CI/CD</a:t>
            </a:r>
            <a:endParaRPr/>
          </a:p>
        </p:txBody>
      </p:sp>
      <p:sp>
        <p:nvSpPr>
          <p:cNvPr id="320" name="Google Shape;320;p34"/>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34"/>
          <p:cNvSpPr txBox="1"/>
          <p:nvPr/>
        </p:nvSpPr>
        <p:spPr>
          <a:xfrm>
            <a:off x="571500" y="2105025"/>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Continuous visibility and automated quality gates protect the production environment:</a:t>
            </a:r>
            <a:endParaRPr/>
          </a:p>
        </p:txBody>
      </p:sp>
      <p:sp>
        <p:nvSpPr>
          <p:cNvPr id="322" name="Google Shape;322;p34"/>
          <p:cNvSpPr txBox="1"/>
          <p:nvPr/>
        </p:nvSpPr>
        <p:spPr>
          <a:xfrm>
            <a:off x="876300" y="2905125"/>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Observability:</a:t>
            </a:r>
            <a:r>
              <a:rPr lang="en-US" sz="1500" b="0" i="0" u="none" strike="noStrike" cap="none">
                <a:solidFill>
                  <a:srgbClr val="D1D5DB"/>
                </a:solidFill>
                <a:latin typeface="Urbanist"/>
                <a:ea typeface="Urbanist"/>
                <a:cs typeface="Urbanist"/>
                <a:sym typeface="Urbanist"/>
              </a:rPr>
              <a:t> Prometheus scrapes API metrics; Grafana visualizes latency, drift, and throughput.</a:t>
            </a:r>
            <a:endParaRPr/>
          </a:p>
        </p:txBody>
      </p:sp>
      <p:sp>
        <p:nvSpPr>
          <p:cNvPr id="323" name="Google Shape;323;p34"/>
          <p:cNvSpPr txBox="1"/>
          <p:nvPr/>
        </p:nvSpPr>
        <p:spPr>
          <a:xfrm>
            <a:off x="876300" y="3705225"/>
            <a:ext cx="4981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Centralized Logging:</a:t>
            </a:r>
            <a:r>
              <a:rPr lang="en-US" sz="1500" b="0" i="0" u="none" strike="noStrike" cap="none">
                <a:solidFill>
                  <a:srgbClr val="D1D5DB"/>
                </a:solidFill>
                <a:latin typeface="Urbanist"/>
                <a:ea typeface="Urbanist"/>
                <a:cs typeface="Urbanist"/>
                <a:sym typeface="Urbanist"/>
              </a:rPr>
              <a:t> Filebeat ships container logs to Elasticsearch for Kibana querying.</a:t>
            </a:r>
            <a:endParaRPr/>
          </a:p>
        </p:txBody>
      </p:sp>
      <p:sp>
        <p:nvSpPr>
          <p:cNvPr id="324" name="Google Shape;324;p34"/>
          <p:cNvSpPr txBox="1"/>
          <p:nvPr/>
        </p:nvSpPr>
        <p:spPr>
          <a:xfrm>
            <a:off x="876300" y="4505325"/>
            <a:ext cx="49815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D1D5DB"/>
                </a:solidFill>
                <a:latin typeface="Urbanist"/>
                <a:ea typeface="Urbanist"/>
                <a:cs typeface="Urbanist"/>
                <a:sym typeface="Urbanist"/>
              </a:rPr>
              <a:t>Automated Pipelines:</a:t>
            </a:r>
            <a:r>
              <a:rPr lang="en-US" sz="1500" b="0" i="0" u="none" strike="noStrike" cap="none">
                <a:solidFill>
                  <a:srgbClr val="D1D5DB"/>
                </a:solidFill>
                <a:latin typeface="Urbanist"/>
                <a:ea typeface="Urbanist"/>
                <a:cs typeface="Urbanist"/>
                <a:sym typeface="Urbanist"/>
              </a:rPr>
              <a:t> GitHub Actions enforces linting, testing, and Trivy vulnerability scans before GHCR publication.</a:t>
            </a:r>
            <a:endParaRPr/>
          </a:p>
        </p:txBody>
      </p:sp>
      <p:pic>
        <p:nvPicPr>
          <p:cNvPr id="325" name="Google Shape;325;p34" descr="image.png"/>
          <p:cNvPicPr preferRelativeResize="0"/>
          <p:nvPr/>
        </p:nvPicPr>
        <p:blipFill rotWithShape="1">
          <a:blip r:embed="rId5">
            <a:alphaModFix/>
          </a:blip>
          <a:srcRect/>
          <a:stretch/>
        </p:blipFill>
        <p:spPr>
          <a:xfrm>
            <a:off x="571500" y="2924175"/>
            <a:ext cx="114300" cy="200025"/>
          </a:xfrm>
          <a:prstGeom prst="rect">
            <a:avLst/>
          </a:prstGeom>
          <a:noFill/>
          <a:ln>
            <a:noFill/>
          </a:ln>
        </p:spPr>
      </p:pic>
      <p:pic>
        <p:nvPicPr>
          <p:cNvPr id="326" name="Google Shape;326;p34" descr="image.png"/>
          <p:cNvPicPr preferRelativeResize="0"/>
          <p:nvPr/>
        </p:nvPicPr>
        <p:blipFill rotWithShape="1">
          <a:blip r:embed="rId5">
            <a:alphaModFix/>
          </a:blip>
          <a:srcRect/>
          <a:stretch/>
        </p:blipFill>
        <p:spPr>
          <a:xfrm>
            <a:off x="571500" y="3724275"/>
            <a:ext cx="114300" cy="200025"/>
          </a:xfrm>
          <a:prstGeom prst="rect">
            <a:avLst/>
          </a:prstGeom>
          <a:noFill/>
          <a:ln>
            <a:noFill/>
          </a:ln>
        </p:spPr>
      </p:pic>
      <p:pic>
        <p:nvPicPr>
          <p:cNvPr id="327" name="Google Shape;327;p34" descr="image.png"/>
          <p:cNvPicPr preferRelativeResize="0"/>
          <p:nvPr/>
        </p:nvPicPr>
        <p:blipFill rotWithShape="1">
          <a:blip r:embed="rId5">
            <a:alphaModFix/>
          </a:blip>
          <a:srcRect/>
          <a:stretch/>
        </p:blipFill>
        <p:spPr>
          <a:xfrm>
            <a:off x="571500" y="4524375"/>
            <a:ext cx="114300" cy="200025"/>
          </a:xfrm>
          <a:prstGeom prst="rect">
            <a:avLst/>
          </a:prstGeom>
          <a:noFill/>
          <a:ln>
            <a:noFill/>
          </a:ln>
        </p:spPr>
      </p:pic>
      <p:pic>
        <p:nvPicPr>
          <p:cNvPr id="328" name="Google Shape;328;p34" title="monitoring_ci_cd.png"/>
          <p:cNvPicPr preferRelativeResize="0"/>
          <p:nvPr/>
        </p:nvPicPr>
        <p:blipFill>
          <a:blip r:embed="rId6">
            <a:alphaModFix/>
          </a:blip>
          <a:stretch>
            <a:fillRect/>
          </a:stretch>
        </p:blipFill>
        <p:spPr>
          <a:xfrm>
            <a:off x="6529612" y="2259050"/>
            <a:ext cx="4895400" cy="3463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4" name="Google Shape;334;p35"/>
          <p:cNvSpPr/>
          <p:nvPr/>
        </p:nvSpPr>
        <p:spPr>
          <a:xfrm>
            <a:off x="502920" y="609600"/>
            <a:ext cx="45720" cy="365760"/>
          </a:xfrm>
          <a:prstGeom prst="rect">
            <a:avLst/>
          </a:prstGeom>
          <a:solidFill>
            <a:srgbClr val="DEFF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 name="Google Shape;335;p35"/>
          <p:cNvSpPr txBox="1"/>
          <p:nvPr/>
        </p:nvSpPr>
        <p:spPr>
          <a:xfrm>
            <a:off x="640080" y="563880"/>
            <a:ext cx="8000000" cy="480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3200"/>
              <a:buFont typeface="Arial"/>
              <a:buNone/>
            </a:pPr>
            <a:r>
              <a:rPr lang="en-US" sz="3200" b="0" i="0" u="none" strike="noStrike" cap="none">
                <a:solidFill>
                  <a:srgbClr val="F5F5F5"/>
                </a:solidFill>
                <a:latin typeface="Urbanist SemiBold"/>
                <a:ea typeface="Urbanist SemiBold"/>
                <a:cs typeface="Urbanist SemiBold"/>
                <a:sym typeface="Urbanist SemiBold"/>
              </a:rPr>
              <a:t>Team Contributions</a:t>
            </a:r>
            <a:endParaRPr/>
          </a:p>
        </p:txBody>
      </p:sp>
      <p:sp>
        <p:nvSpPr>
          <p:cNvPr id="336" name="Google Shape;336;p35"/>
          <p:cNvSpPr/>
          <p:nvPr/>
        </p:nvSpPr>
        <p:spPr>
          <a:xfrm>
            <a:off x="500000" y="1800000"/>
            <a:ext cx="3624600" cy="3728700"/>
          </a:xfrm>
          <a:prstGeom prst="roundRect">
            <a:avLst>
              <a:gd name="adj" fmla="val 6000"/>
            </a:avLst>
          </a:prstGeom>
          <a:solidFill>
            <a:srgbClr val="16181B"/>
          </a:solidFill>
          <a:ln w="12700" cap="flat" cmpd="sng">
            <a:solidFill>
              <a:srgbClr val="DEFF9A">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 name="Google Shape;337;p35"/>
          <p:cNvSpPr txBox="1"/>
          <p:nvPr/>
        </p:nvSpPr>
        <p:spPr>
          <a:xfrm>
            <a:off x="730000" y="2100000"/>
            <a:ext cx="3084000" cy="33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US" sz="1800" b="0" i="0" u="none" strike="noStrike" cap="none">
                <a:solidFill>
                  <a:srgbClr val="DEFF9A"/>
                </a:solidFill>
                <a:latin typeface="Urbanist SemiBold"/>
                <a:ea typeface="Urbanist SemiBold"/>
                <a:cs typeface="Urbanist SemiBold"/>
                <a:sym typeface="Urbanist SemiBold"/>
              </a:rPr>
              <a:t>Chathura</a:t>
            </a:r>
            <a:endParaRPr/>
          </a:p>
        </p:txBody>
      </p:sp>
      <p:sp>
        <p:nvSpPr>
          <p:cNvPr id="338" name="Google Shape;338;p35"/>
          <p:cNvSpPr txBox="1"/>
          <p:nvPr/>
        </p:nvSpPr>
        <p:spPr>
          <a:xfrm>
            <a:off x="730000" y="2460000"/>
            <a:ext cx="3084000" cy="30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en-US" sz="1300" b="1">
                <a:solidFill>
                  <a:srgbClr val="D1D5DB"/>
                </a:solidFill>
                <a:latin typeface="Urbanist"/>
                <a:ea typeface="Urbanist"/>
                <a:cs typeface="Urbanist"/>
                <a:sym typeface="Urbanist"/>
              </a:rPr>
              <a:t>DA25M558</a:t>
            </a:r>
            <a:endParaRPr b="1"/>
          </a:p>
        </p:txBody>
      </p:sp>
      <p:sp>
        <p:nvSpPr>
          <p:cNvPr id="339" name="Google Shape;339;p35"/>
          <p:cNvSpPr txBox="1"/>
          <p:nvPr/>
        </p:nvSpPr>
        <p:spPr>
          <a:xfrm>
            <a:off x="730000" y="2800000"/>
            <a:ext cx="3084000" cy="40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en-US" sz="1300">
                <a:solidFill>
                  <a:srgbClr val="F5F5F5"/>
                </a:solidFill>
                <a:latin typeface="Urbanist SemiBold"/>
                <a:ea typeface="Urbanist SemiBold"/>
                <a:cs typeface="Urbanist SemiBold"/>
                <a:sym typeface="Urbanist SemiBold"/>
              </a:rPr>
              <a:t>All the Tech Stack</a:t>
            </a:r>
            <a:endParaRPr/>
          </a:p>
        </p:txBody>
      </p:sp>
      <p:sp>
        <p:nvSpPr>
          <p:cNvPr id="340" name="Google Shape;340;p35"/>
          <p:cNvSpPr txBox="1"/>
          <p:nvPr/>
        </p:nvSpPr>
        <p:spPr>
          <a:xfrm>
            <a:off x="914400" y="3280000"/>
            <a:ext cx="2899600" cy="1750000"/>
          </a:xfrm>
          <a:prstGeom prst="rect">
            <a:avLst/>
          </a:prstGeom>
          <a:noFill/>
          <a:ln>
            <a:noFill/>
          </a:ln>
        </p:spPr>
        <p:txBody>
          <a:bodyPr spcFirstLastPara="1" wrap="square" lIns="0" tIns="0" rIns="0" bIns="0" anchor="t" anchorCtr="0">
            <a:noAutofit/>
          </a:bodyPr>
          <a:lstStyle/>
          <a:p>
            <a:pPr marL="165100" marR="0" lvl="0" indent="-165100" algn="l" rtl="0">
              <a:lnSpc>
                <a:spcPct val="115000"/>
              </a:lnSpc>
              <a:spcBef>
                <a:spcPts val="600"/>
              </a:spcBef>
              <a:spcAft>
                <a:spcPts val="0"/>
              </a:spcAft>
              <a:buClr>
                <a:schemeClr val="lt1"/>
              </a:buClr>
              <a:buSzPts val="1150"/>
              <a:buFont typeface="Arial"/>
              <a:buChar char="•"/>
            </a:pPr>
            <a:r>
              <a:rPr lang="en-US" sz="1150">
                <a:solidFill>
                  <a:srgbClr val="C9CDD3"/>
                </a:solidFill>
                <a:latin typeface="Urbanist"/>
                <a:ea typeface="Urbanist"/>
                <a:cs typeface="Urbanist"/>
                <a:sym typeface="Urbanist"/>
              </a:rPr>
              <a:t>UI API </a:t>
            </a:r>
            <a:endParaRPr sz="1150">
              <a:solidFill>
                <a:srgbClr val="C9CDD3"/>
              </a:solidFill>
              <a:latin typeface="Urbanist"/>
              <a:ea typeface="Urbanist"/>
              <a:cs typeface="Urbanist"/>
              <a:sym typeface="Urbanist"/>
            </a:endParaRPr>
          </a:p>
          <a:p>
            <a:pPr marL="165100" marR="0" lvl="0" indent="-165100" algn="l" rtl="0">
              <a:lnSpc>
                <a:spcPct val="115000"/>
              </a:lnSpc>
              <a:spcBef>
                <a:spcPts val="600"/>
              </a:spcBef>
              <a:spcAft>
                <a:spcPts val="0"/>
              </a:spcAft>
              <a:buClr>
                <a:schemeClr val="lt1"/>
              </a:buClr>
              <a:buSzPts val="1150"/>
              <a:buFont typeface="Arial"/>
              <a:buChar char="•"/>
            </a:pPr>
            <a:r>
              <a:rPr lang="en-US" sz="1150">
                <a:solidFill>
                  <a:srgbClr val="C9CDD3"/>
                </a:solidFill>
                <a:latin typeface="Urbanist"/>
                <a:ea typeface="Urbanist"/>
                <a:cs typeface="Urbanist"/>
                <a:sym typeface="Urbanist"/>
              </a:rPr>
              <a:t>Primarily </a:t>
            </a:r>
            <a:r>
              <a:rPr lang="en-US" sz="1150" b="0" i="0" u="none" strike="noStrike" cap="none">
                <a:solidFill>
                  <a:srgbClr val="C9CDD3"/>
                </a:solidFill>
                <a:latin typeface="Urbanist"/>
                <a:ea typeface="Urbanist"/>
                <a:cs typeface="Urbanist"/>
                <a:sym typeface="Urbanist"/>
              </a:rPr>
              <a:t>DVC dataset and pipeline versioning</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Prometheus metrics instrumentation</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Grafana operational dashboards</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Kibana / Elasticsearch centralised logging</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GitHub Actions CI/CD pipeline</a:t>
            </a:r>
            <a:endParaRPr sz="1150" b="0" i="0" u="none" strike="noStrike" cap="none">
              <a:solidFill>
                <a:srgbClr val="C9CDD3"/>
              </a:solidFill>
              <a:latin typeface="Urbanist"/>
              <a:ea typeface="Urbanist"/>
              <a:cs typeface="Urbanist"/>
              <a:sym typeface="Urbanist"/>
            </a:endParaRPr>
          </a:p>
          <a:p>
            <a:pPr marL="165100" marR="0" lvl="0" indent="-165100" algn="l" rtl="0">
              <a:lnSpc>
                <a:spcPct val="115000"/>
              </a:lnSpc>
              <a:spcBef>
                <a:spcPts val="600"/>
              </a:spcBef>
              <a:spcAft>
                <a:spcPts val="0"/>
              </a:spcAft>
              <a:buClr>
                <a:srgbClr val="C9CDD3"/>
              </a:buClr>
              <a:buSzPts val="1150"/>
              <a:buFont typeface="Urbanist"/>
              <a:buChar char="•"/>
            </a:pPr>
            <a:r>
              <a:rPr lang="en-US" sz="1150">
                <a:solidFill>
                  <a:srgbClr val="C9CDD3"/>
                </a:solidFill>
                <a:latin typeface="Urbanist"/>
                <a:ea typeface="Urbanist"/>
                <a:cs typeface="Urbanist"/>
                <a:sym typeface="Urbanist"/>
              </a:rPr>
              <a:t>Entire tech Stack</a:t>
            </a:r>
            <a:endParaRPr sz="1150">
              <a:solidFill>
                <a:srgbClr val="C9CDD3"/>
              </a:solidFill>
              <a:latin typeface="Urbanist"/>
              <a:ea typeface="Urbanist"/>
              <a:cs typeface="Urbanist"/>
              <a:sym typeface="Urbanist"/>
            </a:endParaRPr>
          </a:p>
        </p:txBody>
      </p:sp>
      <p:sp>
        <p:nvSpPr>
          <p:cNvPr id="341" name="Google Shape;341;p35"/>
          <p:cNvSpPr/>
          <p:nvPr/>
        </p:nvSpPr>
        <p:spPr>
          <a:xfrm>
            <a:off x="4324000" y="1800000"/>
            <a:ext cx="3543900" cy="3728700"/>
          </a:xfrm>
          <a:prstGeom prst="roundRect">
            <a:avLst>
              <a:gd name="adj" fmla="val 6000"/>
            </a:avLst>
          </a:prstGeom>
          <a:solidFill>
            <a:srgbClr val="16181B"/>
          </a:solidFill>
          <a:ln w="12700" cap="flat" cmpd="sng">
            <a:solidFill>
              <a:srgbClr val="7DD3FC">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2" name="Google Shape;342;p35"/>
          <p:cNvSpPr txBox="1"/>
          <p:nvPr/>
        </p:nvSpPr>
        <p:spPr>
          <a:xfrm>
            <a:off x="4554000" y="2100000"/>
            <a:ext cx="3084000" cy="33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US" sz="1800" b="0" i="0" u="none" strike="noStrike" cap="none">
                <a:solidFill>
                  <a:srgbClr val="7DD3FC"/>
                </a:solidFill>
                <a:latin typeface="Urbanist SemiBold"/>
                <a:ea typeface="Urbanist SemiBold"/>
                <a:cs typeface="Urbanist SemiBold"/>
                <a:sym typeface="Urbanist SemiBold"/>
              </a:rPr>
              <a:t>Likhita</a:t>
            </a:r>
            <a:endParaRPr/>
          </a:p>
        </p:txBody>
      </p:sp>
      <p:sp>
        <p:nvSpPr>
          <p:cNvPr id="343" name="Google Shape;343;p35"/>
          <p:cNvSpPr txBox="1"/>
          <p:nvPr/>
        </p:nvSpPr>
        <p:spPr>
          <a:xfrm>
            <a:off x="4554000" y="2460000"/>
            <a:ext cx="3084000" cy="30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en-US" sz="1300" b="0" i="0" u="none" strike="noStrike" cap="none">
                <a:solidFill>
                  <a:srgbClr val="D1D5DB"/>
                </a:solidFill>
                <a:latin typeface="Urbanist"/>
                <a:ea typeface="Urbanist"/>
                <a:cs typeface="Urbanist"/>
                <a:sym typeface="Urbanist"/>
              </a:rPr>
              <a:t>[Roll No.]</a:t>
            </a:r>
            <a:endParaRPr/>
          </a:p>
        </p:txBody>
      </p:sp>
      <p:sp>
        <p:nvSpPr>
          <p:cNvPr id="344" name="Google Shape;344;p35"/>
          <p:cNvSpPr txBox="1"/>
          <p:nvPr/>
        </p:nvSpPr>
        <p:spPr>
          <a:xfrm>
            <a:off x="4554000" y="2800000"/>
            <a:ext cx="3084000" cy="40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en-US" sz="1300" b="0" i="0" u="none" strike="noStrike" cap="none">
                <a:solidFill>
                  <a:srgbClr val="F5F5F5"/>
                </a:solidFill>
                <a:latin typeface="Urbanist SemiBold"/>
                <a:ea typeface="Urbanist SemiBold"/>
                <a:cs typeface="Urbanist SemiBold"/>
                <a:sym typeface="Urbanist SemiBold"/>
              </a:rPr>
              <a:t>Model Training &amp; Orchestration</a:t>
            </a:r>
            <a:endParaRPr/>
          </a:p>
        </p:txBody>
      </p:sp>
      <p:sp>
        <p:nvSpPr>
          <p:cNvPr id="345" name="Google Shape;345;p35"/>
          <p:cNvSpPr txBox="1"/>
          <p:nvPr/>
        </p:nvSpPr>
        <p:spPr>
          <a:xfrm>
            <a:off x="4800600" y="3280000"/>
            <a:ext cx="2837400" cy="1750000"/>
          </a:xfrm>
          <a:prstGeom prst="rect">
            <a:avLst/>
          </a:prstGeom>
          <a:noFill/>
          <a:ln>
            <a:noFill/>
          </a:ln>
        </p:spPr>
        <p:txBody>
          <a:bodyPr spcFirstLastPara="1" wrap="square" lIns="0" tIns="0" rIns="0" bIns="0" anchor="t" anchorCtr="0">
            <a:noAutofit/>
          </a:bodyPr>
          <a:lstStyle/>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MLflow experiment tracking and registry</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Airflow DAG orchestration</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Ray Tune hyperparameter optimisation</a:t>
            </a:r>
            <a:endParaRPr sz="1150" b="0" i="0" u="none" strike="noStrike" cap="none">
              <a:solidFill>
                <a:srgbClr val="C9CDD3"/>
              </a:solidFill>
              <a:latin typeface="Urbanist"/>
              <a:ea typeface="Urbanist"/>
              <a:cs typeface="Urbanist"/>
              <a:sym typeface="Urbanist"/>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Model training and selection workflow</a:t>
            </a:r>
            <a:endParaRPr/>
          </a:p>
        </p:txBody>
      </p:sp>
      <p:sp>
        <p:nvSpPr>
          <p:cNvPr id="346" name="Google Shape;346;p35"/>
          <p:cNvSpPr/>
          <p:nvPr/>
        </p:nvSpPr>
        <p:spPr>
          <a:xfrm>
            <a:off x="8148000" y="1800000"/>
            <a:ext cx="3543900" cy="3614700"/>
          </a:xfrm>
          <a:prstGeom prst="roundRect">
            <a:avLst>
              <a:gd name="adj" fmla="val 6000"/>
            </a:avLst>
          </a:prstGeom>
          <a:solidFill>
            <a:srgbClr val="16181B"/>
          </a:solidFill>
          <a:ln w="12700" cap="flat" cmpd="sng">
            <a:solidFill>
              <a:srgbClr val="FDBA74">
                <a:alpha val="45098"/>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7" name="Google Shape;347;p35"/>
          <p:cNvSpPr txBox="1"/>
          <p:nvPr/>
        </p:nvSpPr>
        <p:spPr>
          <a:xfrm>
            <a:off x="8378000" y="2100000"/>
            <a:ext cx="3084000" cy="33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US" sz="1800" b="0" i="0" u="none" strike="noStrike" cap="none">
                <a:solidFill>
                  <a:srgbClr val="FDBA74"/>
                </a:solidFill>
                <a:latin typeface="Urbanist SemiBold"/>
                <a:ea typeface="Urbanist SemiBold"/>
                <a:cs typeface="Urbanist SemiBold"/>
                <a:sym typeface="Urbanist SemiBold"/>
              </a:rPr>
              <a:t>Karthik</a:t>
            </a:r>
            <a:endParaRPr/>
          </a:p>
        </p:txBody>
      </p:sp>
      <p:sp>
        <p:nvSpPr>
          <p:cNvPr id="348" name="Google Shape;348;p35"/>
          <p:cNvSpPr txBox="1"/>
          <p:nvPr/>
        </p:nvSpPr>
        <p:spPr>
          <a:xfrm>
            <a:off x="8378000" y="2460000"/>
            <a:ext cx="3084000" cy="30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en-US" sz="1300" b="0" i="0" u="none" strike="noStrike" cap="none">
                <a:solidFill>
                  <a:srgbClr val="D1D5DB"/>
                </a:solidFill>
                <a:latin typeface="Urbanist"/>
                <a:ea typeface="Urbanist"/>
                <a:cs typeface="Urbanist"/>
                <a:sym typeface="Urbanist"/>
              </a:rPr>
              <a:t>[Roll No.]</a:t>
            </a:r>
            <a:endParaRPr/>
          </a:p>
        </p:txBody>
      </p:sp>
      <p:sp>
        <p:nvSpPr>
          <p:cNvPr id="349" name="Google Shape;349;p35"/>
          <p:cNvSpPr txBox="1"/>
          <p:nvPr/>
        </p:nvSpPr>
        <p:spPr>
          <a:xfrm>
            <a:off x="8378000" y="2800000"/>
            <a:ext cx="3084000" cy="4000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en-US" sz="1300" b="0" i="0" u="none" strike="noStrike" cap="none">
                <a:solidFill>
                  <a:srgbClr val="F5F5F5"/>
                </a:solidFill>
                <a:latin typeface="Urbanist SemiBold"/>
                <a:ea typeface="Urbanist SemiBold"/>
                <a:cs typeface="Urbanist SemiBold"/>
                <a:sym typeface="Urbanist SemiBold"/>
              </a:rPr>
              <a:t>Data Engineering &amp; Streaming</a:t>
            </a:r>
            <a:endParaRPr/>
          </a:p>
        </p:txBody>
      </p:sp>
      <p:sp>
        <p:nvSpPr>
          <p:cNvPr id="350" name="Google Shape;350;p35"/>
          <p:cNvSpPr txBox="1"/>
          <p:nvPr/>
        </p:nvSpPr>
        <p:spPr>
          <a:xfrm>
            <a:off x="8640080" y="3280000"/>
            <a:ext cx="2821920" cy="1750000"/>
          </a:xfrm>
          <a:prstGeom prst="rect">
            <a:avLst/>
          </a:prstGeom>
          <a:noFill/>
          <a:ln>
            <a:noFill/>
          </a:ln>
        </p:spPr>
        <p:txBody>
          <a:bodyPr spcFirstLastPara="1" wrap="square" lIns="0" tIns="0" rIns="0" bIns="0" anchor="t" anchorCtr="0">
            <a:noAutofit/>
          </a:bodyPr>
          <a:lstStyle/>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Apache Spark Structured Streaming</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Apache Kafka event transport and topics</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Data engineering, cleaning and canonical schema</a:t>
            </a:r>
            <a:endParaRPr/>
          </a:p>
          <a:p>
            <a:pPr marL="165100" marR="0" lvl="0" indent="-165100" algn="l" rtl="0">
              <a:lnSpc>
                <a:spcPct val="115000"/>
              </a:lnSpc>
              <a:spcBef>
                <a:spcPts val="600"/>
              </a:spcBef>
              <a:spcAft>
                <a:spcPts val="0"/>
              </a:spcAft>
              <a:buClr>
                <a:schemeClr val="lt1"/>
              </a:buClr>
              <a:buSzPts val="1150"/>
              <a:buFont typeface="Arial"/>
              <a:buChar char="•"/>
            </a:pPr>
            <a:r>
              <a:rPr lang="en-US" sz="1150" b="0" i="0" u="none" strike="noStrike" cap="none">
                <a:solidFill>
                  <a:srgbClr val="C9CDD3"/>
                </a:solidFill>
                <a:latin typeface="Urbanist"/>
                <a:ea typeface="Urbanist"/>
                <a:cs typeface="Urbanist"/>
                <a:sym typeface="Urbanist"/>
              </a:rPr>
              <a:t>Feature engineering and split generation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56" name="Google Shape;356;p36"/>
          <p:cNvSpPr txBox="1"/>
          <p:nvPr/>
        </p:nvSpPr>
        <p:spPr>
          <a:xfrm>
            <a:off x="3895725" y="2224087"/>
            <a:ext cx="4400550" cy="1038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750" b="0" i="0" u="none" strike="noStrike" cap="none">
                <a:solidFill>
                  <a:srgbClr val="DEFF9A"/>
                </a:solidFill>
                <a:latin typeface="Urbanist SemiBold"/>
                <a:ea typeface="Urbanist SemiBold"/>
                <a:cs typeface="Urbanist SemiBold"/>
                <a:sym typeface="Urbanist SemiBold"/>
              </a:rPr>
              <a:t>Questions?</a:t>
            </a:r>
            <a:endParaRPr/>
          </a:p>
        </p:txBody>
      </p:sp>
      <p:sp>
        <p:nvSpPr>
          <p:cNvPr id="357" name="Google Shape;357;p36"/>
          <p:cNvSpPr txBox="1"/>
          <p:nvPr/>
        </p:nvSpPr>
        <p:spPr>
          <a:xfrm>
            <a:off x="5081587" y="3452812"/>
            <a:ext cx="202882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D1D5DB"/>
                </a:solidFill>
                <a:latin typeface="Urbanist"/>
                <a:ea typeface="Urbanist"/>
                <a:cs typeface="Urbanist"/>
                <a:sym typeface="Urbanist"/>
              </a:rPr>
              <a:t>Thank you for your time.</a:t>
            </a:r>
            <a:endParaRPr/>
          </a:p>
        </p:txBody>
      </p:sp>
      <p:sp>
        <p:nvSpPr>
          <p:cNvPr id="358" name="Google Shape;358;p36"/>
          <p:cNvSpPr txBox="1"/>
          <p:nvPr/>
        </p:nvSpPr>
        <p:spPr>
          <a:xfrm>
            <a:off x="3771900" y="4138612"/>
            <a:ext cx="4648200" cy="304800"/>
          </a:xfrm>
          <a:prstGeom prst="rect">
            <a:avLst/>
          </a:prstGeom>
          <a:noFill/>
          <a:ln>
            <a:noFill/>
          </a:ln>
        </p:spPr>
        <p:txBody>
          <a:bodyPr spcFirstLastPara="1" wrap="square" lIns="180975"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CA3AF"/>
                </a:solidFill>
                <a:latin typeface="Urbanist"/>
                <a:ea typeface="Urbanist"/>
                <a:cs typeface="Urbanist"/>
                <a:sym typeface="Urbanist"/>
              </a:rPr>
              <a:t> github.com/njchathura-boop/Bot-Review-Campaign</a:t>
            </a:r>
            <a:endParaRPr/>
          </a:p>
        </p:txBody>
      </p:sp>
      <p:pic>
        <p:nvPicPr>
          <p:cNvPr id="359" name="Google Shape;359;p36" descr="image.png"/>
          <p:cNvPicPr preferRelativeResize="0"/>
          <p:nvPr/>
        </p:nvPicPr>
        <p:blipFill rotWithShape="1">
          <a:blip r:embed="rId4">
            <a:alphaModFix/>
          </a:blip>
          <a:srcRect/>
          <a:stretch/>
        </p:blipFill>
        <p:spPr>
          <a:xfrm>
            <a:off x="3771900" y="4195762"/>
            <a:ext cx="180975" cy="1905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1600</Words>
  <Application>Microsoft Office PowerPoint</Application>
  <PresentationFormat>Widescreen</PresentationFormat>
  <Paragraphs>93</Paragraphs>
  <Slides>12</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Urbanist</vt:lpstr>
      <vt:lpstr>Urbanist Medium</vt:lpstr>
      <vt:lpstr>Arial</vt:lpstr>
      <vt:lpstr>Urbanist SemiBold</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Chathura N. J.</cp:lastModifiedBy>
  <cp:revision>1</cp:revision>
  <dcterms:modified xsi:type="dcterms:W3CDTF">2026-08-24T18:20:57Z</dcterms:modified>
</cp:coreProperties>
</file>